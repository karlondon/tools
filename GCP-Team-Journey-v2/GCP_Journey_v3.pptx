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80" y="274320"/>
            <a:ext cx="4937760" cy="4937760"/>
          </a:xfrm>
          <a:prstGeom prst="ellipse">
            <a:avLst/>
          </a:prstGeom>
          <a:noFill/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83880" y="960120"/>
            <a:ext cx="3566160" cy="3566160"/>
          </a:xfrm>
          <a:prstGeom prst="ellipse">
            <a:avLst/>
          </a:prstGeom>
          <a:noFill/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23960" y="1600200"/>
            <a:ext cx="2286000" cy="2286000"/>
          </a:xfrm>
          <a:prstGeom prst="ellipse">
            <a:avLst/>
          </a:prstGeom>
          <a:noFill/>
          <a:ln w="9525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182880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76888" y="2670048"/>
            <a:ext cx="146304" cy="14630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02920"/>
            <a:ext cx="7223760" cy="571500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02920"/>
            <a:ext cx="50292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722376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722376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859536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" y="859536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7498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B9B"/>
                </a:solidFill>
                <a:latin typeface="Courier New"/>
              </a:rPr>
              <a:t>GCP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261872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FROM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10512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4285F4"/>
                </a:solidFill>
                <a:latin typeface="Calibri"/>
              </a:rPr>
              <a:t>TO FULL ORBIT.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06040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8D0"/>
                </a:solidFill>
                <a:latin typeface="Calibri"/>
              </a:rPr>
              <a:t>A 12-month mission from zero to a fully operational GCP
engineering practice — real projects, real clients, real impact.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429000"/>
            <a:ext cx="6126480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285F4"/>
                </a:solidFill>
                <a:latin typeface="Calibri"/>
              </a:rPr>
              <a:t>2→3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416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B9B"/>
                </a:solidFill>
                <a:latin typeface="Courier New"/>
              </a:rP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3566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A853"/>
                </a:solidFill>
                <a:latin typeface="Calibri"/>
              </a:rPr>
              <a:t>4+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40416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B9B"/>
                </a:solidFill>
                <a:latin typeface="Courier New"/>
              </a:rPr>
              <a:t>LIVE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3566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855F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9624" y="40416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B9B"/>
                </a:solidFill>
                <a:latin typeface="Courier New"/>
              </a:rPr>
              <a:t>OPEN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3566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C9A7"/>
                </a:solidFill>
                <a:latin typeface="Calibri"/>
              </a:rPr>
              <a:t>12mo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40416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B9B"/>
                </a:solidFill>
                <a:latin typeface="Courier New"/>
              </a:rPr>
              <a:t>JUN25–MAY26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62272"/>
            <a:ext cx="1335024" cy="2560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4622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90E1A"/>
                </a:solidFill>
                <a:latin typeface="Courier New"/>
              </a:rPr>
              <a:t>TRANSITION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4462272"/>
            <a:ext cx="1335024" cy="2560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3976" y="44622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90E1A"/>
                </a:solidFill>
                <a:latin typeface="Courier New"/>
              </a:rPr>
              <a:t>FOUNDATION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432" y="4462272"/>
            <a:ext cx="1042415" cy="2560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4462272"/>
            <a:ext cx="10424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90E1A"/>
                </a:solidFill>
                <a:latin typeface="Courier New"/>
              </a:rPr>
              <a:t>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62855" y="4462272"/>
            <a:ext cx="1276502" cy="25603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1" y="4462272"/>
            <a:ext cx="127650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90E1A"/>
                </a:solidFill>
                <a:latin typeface="Courier New"/>
              </a:rPr>
              <a:t>FIRST WIN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3365" y="4462272"/>
            <a:ext cx="127650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39941" y="4462272"/>
            <a:ext cx="127650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90E1A"/>
                </a:solidFill>
                <a:latin typeface="Courier New"/>
              </a:rPr>
              <a:t>VALIDATED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43875" y="4462272"/>
            <a:ext cx="1159459" cy="2560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80451" y="4462272"/>
            <a:ext cx="11594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90E1A"/>
                </a:solidFill>
                <a:latin typeface="Courier New"/>
              </a:rPr>
              <a:t>TEAM +1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67342" y="4462272"/>
            <a:ext cx="1100937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18" y="4462272"/>
            <a:ext cx="110093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90E1A"/>
                </a:solidFill>
                <a:latin typeface="Courier New"/>
              </a:rPr>
              <a:t>GROWTH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32287" y="4462272"/>
            <a:ext cx="1335024" cy="2560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68863" y="44622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90E1A"/>
                </a:solidFill>
                <a:latin typeface="Courier New"/>
              </a:rPr>
              <a:t>NEW CLIENT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892040"/>
            <a:ext cx="1463040" cy="274320"/>
          </a:xfrm>
          <a:prstGeom prst="rect">
            <a:avLst/>
          </a:prstGeom>
          <a:noFill/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27532" y="4988052"/>
            <a:ext cx="82296" cy="82296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91947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C9A7"/>
                </a:solidFill>
                <a:latin typeface="Courier New"/>
              </a:rPr>
              <a:t>  LIVE NOW · Apr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01 · LAUNCH SEQUENCE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B9B"/>
                </a:solidFill>
                <a:latin typeface="Courier New"/>
              </a:rPr>
              <a:t>— MISSION BRIEFING · 8 MILESTONES ON THE PATH TO ORBIT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Our 12-Month Mission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D0"/>
                </a:solidFill>
                <a:latin typeface="Calibri"/>
              </a:rPr>
              <a:t>Jun 2025 → May 2026  ·  Every milestone, every win, every step forward.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96260"/>
            <a:ext cx="10881360" cy="2540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594360" y="2862072"/>
            <a:ext cx="493776" cy="493776"/>
          </a:xfrm>
          <a:prstGeom prst="hexagon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62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90E1A"/>
                </a:solidFill>
                <a:latin typeface="Calibri"/>
              </a:rPr>
              <a:t>↺</a:t>
            </a:r>
          </a:p>
        </p:txBody>
      </p:sp>
      <p:sp>
        <p:nvSpPr>
          <p:cNvPr id="9" name="Rectangle 8"/>
          <p:cNvSpPr/>
          <p:nvPr/>
        </p:nvSpPr>
        <p:spPr>
          <a:xfrm>
            <a:off x="834898" y="1783080"/>
            <a:ext cx="12700" cy="107899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7498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EA4335"/>
                </a:solidFill>
                <a:latin typeface="Courier New"/>
              </a:rPr>
              <a:t>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932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Handover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1704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B7B9B"/>
                </a:solidFill>
                <a:latin typeface="Courier New"/>
              </a:rPr>
              <a:t>Jun '25</a:t>
            </a:r>
          </a:p>
        </p:txBody>
      </p:sp>
      <p:sp>
        <p:nvSpPr>
          <p:cNvPr id="13" name="Hexagon 12"/>
          <p:cNvSpPr/>
          <p:nvPr/>
        </p:nvSpPr>
        <p:spPr>
          <a:xfrm>
            <a:off x="2080913" y="2862072"/>
            <a:ext cx="493776" cy="493776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0913" y="2862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90E1A"/>
                </a:solidFill>
                <a:latin typeface="Calibri"/>
              </a:rPr>
              <a:t>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21451" y="3355848"/>
            <a:ext cx="12700" cy="3657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9161" y="37673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4285F4"/>
                </a:solidFill>
                <a:latin typeface="Courier New"/>
              </a:rPr>
              <a:t>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9161" y="39502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9161" y="418795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B7B9B"/>
                </a:solidFill>
                <a:latin typeface="Courier New"/>
              </a:rPr>
              <a:t>Jul '25</a:t>
            </a:r>
          </a:p>
        </p:txBody>
      </p:sp>
      <p:sp>
        <p:nvSpPr>
          <p:cNvPr id="19" name="Hexagon 18"/>
          <p:cNvSpPr/>
          <p:nvPr/>
        </p:nvSpPr>
        <p:spPr>
          <a:xfrm>
            <a:off x="3567466" y="2862072"/>
            <a:ext cx="493776" cy="493776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7466" y="2862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90E1A"/>
                </a:solidFill>
                <a:latin typeface="Calibri"/>
              </a:rPr>
              <a:t>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8004" y="1783080"/>
            <a:ext cx="12700" cy="107899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5714" y="7498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34A853"/>
                </a:solidFill>
                <a:latin typeface="Courier New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5714" y="932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5714" y="11704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B7B9B"/>
                </a:solidFill>
                <a:latin typeface="Courier New"/>
              </a:rPr>
              <a:t>Aug '25</a:t>
            </a:r>
          </a:p>
        </p:txBody>
      </p:sp>
      <p:sp>
        <p:nvSpPr>
          <p:cNvPr id="25" name="Hexagon 24"/>
          <p:cNvSpPr/>
          <p:nvPr/>
        </p:nvSpPr>
        <p:spPr>
          <a:xfrm>
            <a:off x="5054019" y="2862072"/>
            <a:ext cx="493776" cy="493776"/>
          </a:xfrm>
          <a:prstGeom prst="hexagon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4019" y="2862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90E1A"/>
                </a:solidFill>
                <a:latin typeface="Calibri"/>
              </a:rPr>
              <a:t>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4557" y="3355848"/>
            <a:ext cx="12700" cy="3657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2267" y="37673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FBBC04"/>
                </a:solidFill>
                <a:latin typeface="Courier New"/>
              </a:rPr>
              <a:t>FIRST WIN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2267" y="39502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West Brom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2267" y="418795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B7B9B"/>
                </a:solidFill>
                <a:latin typeface="Courier New"/>
              </a:rPr>
              <a:t>Nov '25</a:t>
            </a:r>
          </a:p>
        </p:txBody>
      </p:sp>
      <p:sp>
        <p:nvSpPr>
          <p:cNvPr id="31" name="Hexagon 30"/>
          <p:cNvSpPr/>
          <p:nvPr/>
        </p:nvSpPr>
        <p:spPr>
          <a:xfrm>
            <a:off x="6540572" y="2862072"/>
            <a:ext cx="493776" cy="493776"/>
          </a:xfrm>
          <a:prstGeom prst="hexag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0572" y="2862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90E1A"/>
                </a:solidFill>
                <a:latin typeface="Calibri"/>
              </a:rPr>
              <a:t>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1110" y="1783080"/>
            <a:ext cx="12700" cy="10789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8820" y="7498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6B6D4"/>
                </a:solidFill>
                <a:latin typeface="Courier New"/>
              </a:rPr>
              <a:t>VALIDATED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8820" y="932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GC Resell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8820" y="11704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B7B9B"/>
                </a:solidFill>
                <a:latin typeface="Courier New"/>
              </a:rPr>
              <a:t>Jan '26</a:t>
            </a:r>
          </a:p>
        </p:txBody>
      </p:sp>
      <p:sp>
        <p:nvSpPr>
          <p:cNvPr id="37" name="Hexagon 36"/>
          <p:cNvSpPr/>
          <p:nvPr/>
        </p:nvSpPr>
        <p:spPr>
          <a:xfrm>
            <a:off x="8027125" y="2862072"/>
            <a:ext cx="493776" cy="493776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7125" y="2862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90E1A"/>
                </a:solidFill>
                <a:latin typeface="Calibri"/>
              </a:rPr>
              <a:t>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7663" y="3355848"/>
            <a:ext cx="12700" cy="3657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25373" y="37673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34A853"/>
                </a:solidFill>
                <a:latin typeface="Courier New"/>
              </a:rPr>
              <a:t>TEAM +1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5373" y="39502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Team +1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5373" y="418795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B7B9B"/>
                </a:solidFill>
                <a:latin typeface="Courier New"/>
              </a:rPr>
              <a:t>Feb '26</a:t>
            </a:r>
          </a:p>
        </p:txBody>
      </p:sp>
      <p:sp>
        <p:nvSpPr>
          <p:cNvPr id="43" name="Hexagon 42"/>
          <p:cNvSpPr/>
          <p:nvPr/>
        </p:nvSpPr>
        <p:spPr>
          <a:xfrm>
            <a:off x="9513678" y="2862072"/>
            <a:ext cx="493776" cy="493776"/>
          </a:xfrm>
          <a:prstGeom prst="hexag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13678" y="2862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90E1A"/>
                </a:solidFill>
                <a:latin typeface="Calibri"/>
              </a:rPr>
              <a:t>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54216" y="1783080"/>
            <a:ext cx="12700" cy="10789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1926" y="7498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A855F7"/>
                </a:solidFill>
                <a:latin typeface="Courier New"/>
              </a:rPr>
              <a:t>GROWTH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1926" y="932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 Roles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1926" y="11704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B7B9B"/>
                </a:solidFill>
                <a:latin typeface="Courier New"/>
              </a:rPr>
              <a:t>Mar '26</a:t>
            </a:r>
          </a:p>
        </p:txBody>
      </p:sp>
      <p:sp>
        <p:nvSpPr>
          <p:cNvPr id="49" name="Hexagon 48"/>
          <p:cNvSpPr/>
          <p:nvPr/>
        </p:nvSpPr>
        <p:spPr>
          <a:xfrm>
            <a:off x="11000232" y="2862072"/>
            <a:ext cx="493776" cy="493776"/>
          </a:xfrm>
          <a:prstGeom prst="hexagon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00232" y="2862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90E1A"/>
                </a:solidFill>
                <a:latin typeface="Calibri"/>
              </a:rPr>
              <a:t>◎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240770" y="3355848"/>
            <a:ext cx="12700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98480" y="37673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1">
                <a:solidFill>
                  <a:srgbClr val="00C9A7"/>
                </a:solidFill>
                <a:latin typeface="Courier New"/>
              </a:rPr>
              <a:t>NEW CLIENT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39502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YHCR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418795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B7B9B"/>
                </a:solidFill>
                <a:latin typeface="Courier New"/>
              </a:rPr>
              <a:t>Apr '26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02 · MISSION BRIEFING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med" advClick="1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" y="0"/>
            <a:ext cx="12141403" cy="1389888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A4335"/>
                </a:solidFill>
                <a:latin typeface="Courier New"/>
              </a:rPr>
              <a:t>— PHASE 1 · IGNITION &amp; ASCENT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Establishing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D0"/>
                </a:solidFill>
                <a:latin typeface="Calibri"/>
              </a:rPr>
              <a:t>Jun 2025 – Nov 2025  ·  3 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548640"/>
            <a:ext cx="1207008" cy="2926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548640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>
                <a:solidFill>
                  <a:srgbClr val="090E1A"/>
                </a:solidFill>
                <a:latin typeface="Courier New"/>
              </a:rPr>
              <a:t>TRANSITION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19" y="548640"/>
            <a:ext cx="1207008" cy="2926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19" y="548640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>
                <a:solidFill>
                  <a:srgbClr val="090E1A"/>
                </a:solidFill>
                <a:latin typeface="Courier New"/>
              </a:rPr>
              <a:t>FOUNDATION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548640"/>
            <a:ext cx="1207008" cy="2926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548640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>
                <a:solidFill>
                  <a:srgbClr val="090E1A"/>
                </a:solidFill>
                <a:latin typeface="Courier New"/>
              </a:rPr>
              <a:t>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72768"/>
            <a:ext cx="3621024" cy="425196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72768"/>
            <a:ext cx="3621024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649224" y="1664208"/>
            <a:ext cx="402336" cy="402336"/>
          </a:xfrm>
          <a:prstGeom prst="hexagon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664208"/>
            <a:ext cx="402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90E1A"/>
                </a:solidFill>
                <a:latin typeface="Calibri"/>
              </a:rPr>
              <a:t>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682496"/>
            <a:ext cx="2935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EA4335"/>
                </a:solidFill>
                <a:latin typeface="Courier New"/>
              </a:rPr>
              <a:t>TRANSITION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1865376"/>
            <a:ext cx="2935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Jun → Jul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103120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Taking the Baton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2395728"/>
            <a:ext cx="3364992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Formal handover from the previous team. Service continuity maintained with zero disruption. Knowledge transfer, access provisioning, and risk documentation completed. GCP Engineering takes full accountability from day 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1572768"/>
            <a:ext cx="3621024" cy="425196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1572768"/>
            <a:ext cx="3621024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4471416" y="1664208"/>
            <a:ext cx="402336" cy="402336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1416" y="1664208"/>
            <a:ext cx="402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90E1A"/>
                </a:solidFill>
                <a:latin typeface="Calibri"/>
              </a:rPr>
              <a:t>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1682496"/>
            <a:ext cx="2935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4285F4"/>
                </a:solidFill>
                <a:latin typeface="Courier New"/>
              </a:rPr>
              <a:t>FOUNDATION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1865376"/>
            <a:ext cx="2935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July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2103120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Two Pioneers, One 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2395728"/>
            <a:ext cx="3364992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2 members only — 1 Sr Manager + 1 Consultant — shared across 2 simultaneous work streams. Learning the landscape fast, establishing process, and building the groundwork for everything that followed.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7304" y="1572768"/>
            <a:ext cx="3621024" cy="425196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7304" y="1572768"/>
            <a:ext cx="3621024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8293608" y="1664208"/>
            <a:ext cx="402336" cy="402336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1664208"/>
            <a:ext cx="402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90E1A"/>
                </a:solidFill>
                <a:latin typeface="Calibri"/>
              </a:rPr>
              <a:t>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1682496"/>
            <a:ext cx="2935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4A853"/>
                </a:solidFill>
                <a:latin typeface="Courier New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1664" y="1865376"/>
            <a:ext cx="2935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Aug – Nov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2103120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Laying the Foundation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2395728"/>
            <a:ext cx="3364992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GCP Project Vending Pipeline designed from scratch and delivered production-ready by November 2025. Internal clients Alpha Commerce and PairD Billing onboarded simultaneously — proving the team could build and support at once.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03 · IGNITION &amp; ASCENT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med" advClick="1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" y="0"/>
            <a:ext cx="12141403" cy="1389888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BBC04"/>
                </a:solidFill>
                <a:latin typeface="Courier New"/>
              </a:rPr>
              <a:t>— PHASE 2 · FIRST ORBITAL MANEUVERS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First Client Encounters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D0"/>
                </a:solidFill>
                <a:latin typeface="Calibri"/>
              </a:rPr>
              <a:t>Nov 2025 – Jan 2026  ·  2 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548640"/>
            <a:ext cx="1207008" cy="29260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548640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>
                <a:solidFill>
                  <a:srgbClr val="090E1A"/>
                </a:solidFill>
                <a:latin typeface="Courier New"/>
              </a:rPr>
              <a:t>FIRST WIN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19" y="548640"/>
            <a:ext cx="1207008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19" y="548640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>
                <a:solidFill>
                  <a:srgbClr val="090E1A"/>
                </a:solidFill>
                <a:latin typeface="Courier New"/>
              </a:rPr>
              <a:t>VALIDATED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72768"/>
            <a:ext cx="5559552" cy="46177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572768"/>
            <a:ext cx="5559552" cy="457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649224" y="1664208"/>
            <a:ext cx="402336" cy="402336"/>
          </a:xfrm>
          <a:prstGeom prst="hexagon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1664208"/>
            <a:ext cx="402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90E1A"/>
                </a:solidFill>
                <a:latin typeface="Calibri"/>
              </a:rPr>
              <a:t>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682496"/>
            <a:ext cx="487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BBC04"/>
                </a:solidFill>
                <a:latin typeface="Courier New"/>
              </a:rPr>
              <a:t>FIRST 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865376"/>
            <a:ext cx="4873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15 November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1031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First Chargeable Win — West Brom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395728"/>
            <a:ext cx="530352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First external, billable build engagement with West Bromwich Building Society. Delivering a Storage Transfer Service where GCP backs up data from AWS-hosted applications — cross-cloud resilience architecture.
First invoice. First proof of commercial readiness. The team earns its wings.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5715000"/>
            <a:ext cx="1737360" cy="25603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71500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090E1A"/>
                </a:solidFill>
                <a:latin typeface="Courier New"/>
              </a:rPr>
              <a:t>★ REVENUE GENERATING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1572768"/>
            <a:ext cx="5559552" cy="46177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1572768"/>
            <a:ext cx="555955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6775704" y="1664208"/>
            <a:ext cx="402336" cy="402336"/>
          </a:xfrm>
          <a:prstGeom prst="hexag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5704" y="1664208"/>
            <a:ext cx="402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90E1A"/>
                </a:solidFill>
                <a:latin typeface="Calibri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1682496"/>
            <a:ext cx="487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6B6D4"/>
                </a:solidFill>
                <a:latin typeface="Courier New"/>
              </a:rPr>
              <a:t>VALIDATED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865376"/>
            <a:ext cx="4873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Early January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21031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Proven in Production — GC Resell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2395728"/>
            <a:ext cx="530352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The vending pipeline and delivery frameworks tested in a live commercial project for GC Resell. Real-world validation that the model works, the team is delivery-ready, and the pipeline is repeatable at scale.
Two external clients in just three months.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04 · FIRST ORBITAL MANEUVERS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med" advClick="1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" y="0"/>
            <a:ext cx="12141403" cy="1389888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855F7"/>
                </a:solidFill>
                <a:latin typeface="Courier New"/>
              </a:rPr>
              <a:t>— PHASE 3 · CREW EXPANSION &amp; GROWTH TRAJECTORY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Growing Our Crew &amp; Scaling for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D0"/>
                </a:solidFill>
                <a:latin typeface="Calibri"/>
              </a:rPr>
              <a:t>Feb 2026 – Mar 2026  ·  2 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548640"/>
            <a:ext cx="1207008" cy="2926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548640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>
                <a:solidFill>
                  <a:srgbClr val="090E1A"/>
                </a:solidFill>
                <a:latin typeface="Courier New"/>
              </a:rPr>
              <a:t>TEAM +1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19" y="548640"/>
            <a:ext cx="12070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19" y="548640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>
                <a:solidFill>
                  <a:srgbClr val="090E1A"/>
                </a:solidFill>
                <a:latin typeface="Courier New"/>
              </a:rPr>
              <a:t>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72768"/>
            <a:ext cx="5559552" cy="46177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572768"/>
            <a:ext cx="5559552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649224" y="1664208"/>
            <a:ext cx="402336" cy="402336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1664208"/>
            <a:ext cx="402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90E1A"/>
                </a:solidFill>
                <a:latin typeface="Calibri"/>
              </a:rPr>
              <a:t>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682496"/>
            <a:ext cx="487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4A853"/>
                </a:solidFill>
                <a:latin typeface="Courier New"/>
              </a:rPr>
              <a:t>TEAM +1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865376"/>
            <a:ext cx="4873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Mid-February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1031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Third Member Joins the Crew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395728"/>
            <a:ext cx="530352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A third engineer joins to support the existing Consultant — deepening delivery capacity, enabling parallel client workstreams, and marking the squad's transition from a duo to a genuine engineering crew.
Headcount: 2 → 3. Delivery capacity: doubled.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1572768"/>
            <a:ext cx="5559552" cy="46177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1572768"/>
            <a:ext cx="5559552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6775704" y="1664208"/>
            <a:ext cx="402336" cy="402336"/>
          </a:xfrm>
          <a:prstGeom prst="hexag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4" y="1664208"/>
            <a:ext cx="402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90E1A"/>
                </a:solidFill>
                <a:latin typeface="Calibri"/>
              </a:rPr>
              <a:t>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682496"/>
            <a:ext cx="487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55F7"/>
                </a:solidFill>
                <a:latin typeface="Courier New"/>
              </a:rP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865376"/>
            <a:ext cx="4873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March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1031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Scaling the 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2395728"/>
            <a:ext cx="530352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Growing demand means growing the team. Three open roles now active — sourcing experienced GCP engineers to meet the incoming client pipeline.
The transition from a startup unit to an established engineering practice is well underway.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2910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B9B"/>
                </a:solidFill>
                <a:latin typeface="Courier New"/>
              </a:rPr>
              <a:t>TEAM GROWTH:</a:t>
            </a:r>
          </a:p>
        </p:txBody>
      </p:sp>
      <p:sp>
        <p:nvSpPr>
          <p:cNvPr id="29" name="Oval 28"/>
          <p:cNvSpPr/>
          <p:nvPr/>
        </p:nvSpPr>
        <p:spPr>
          <a:xfrm>
            <a:off x="1938528" y="6300216"/>
            <a:ext cx="237744" cy="23774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86000" y="6300216"/>
            <a:ext cx="237744" cy="23774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633472" y="6300216"/>
            <a:ext cx="237744" cy="23774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6291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B9B"/>
                </a:solidFill>
                <a:latin typeface="Calibri"/>
              </a:rPr>
              <a:t>3 engineers active  ·  3 open roles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05 · CREW EXPANSION &amp; 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med" advClick="1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" y="0"/>
            <a:ext cx="12141403" cy="1389888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C9A7"/>
                </a:solidFill>
                <a:latin typeface="Courier New"/>
              </a:rPr>
              <a:t>— PHASE 4 · FULL ORBIT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New Client. Mission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D0"/>
                </a:solidFill>
                <a:latin typeface="Calibri"/>
              </a:rPr>
              <a:t>Late Apr / May 2026  ·  Full orbit achieved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5943600" cy="48463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594360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649224" y="1664208"/>
            <a:ext cx="402336" cy="402336"/>
          </a:xfrm>
          <a:prstGeom prst="hexagon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664208"/>
            <a:ext cx="402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90E1A"/>
                </a:solidFill>
                <a:latin typeface="Calibri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682496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C9A7"/>
                </a:solidFill>
                <a:latin typeface="Courier New"/>
              </a:rPr>
              <a:t>NEW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65376"/>
            <a:ext cx="5257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Late Apr /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103120"/>
            <a:ext cx="5687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YHCR Joins the Family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395728"/>
            <a:ext cx="5687568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YHCR onboarding to CMS GCP Engineering to support their existing GCP Org as part of an environment extension.
The team's growing reputation in the market is opening new doors — and this is just the beginning of what's ahead.
"Full orbit achieved. The practice is operational, commercial, and scaling."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C9A7"/>
                </a:solidFill>
                <a:latin typeface="Courier New"/>
              </a:rPr>
              <a:t>MISSION STATS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103120"/>
            <a:ext cx="5120640" cy="54864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103120"/>
            <a:ext cx="36576" cy="548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1945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285F4"/>
                </a:solidFill>
                <a:latin typeface="Calibri"/>
              </a:rPr>
              <a:t>12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286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B8D0"/>
                </a:solidFill>
                <a:latin typeface="Calibri"/>
              </a:rPr>
              <a:t>Journey duration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761488"/>
            <a:ext cx="5120640" cy="54864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2761488"/>
            <a:ext cx="36576" cy="548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8529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A853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9443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B8D0"/>
                </a:solidFill>
                <a:latin typeface="Calibri"/>
              </a:rPr>
              <a:t>Milestones hit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419856"/>
            <a:ext cx="5120640" cy="54864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3419856"/>
            <a:ext cx="36576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5112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6B6D4"/>
                </a:solidFill>
                <a:latin typeface="Calibri"/>
              </a:rPr>
              <a:t>4+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027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B8D0"/>
                </a:solidFill>
                <a:latin typeface="Calibri"/>
              </a:rPr>
              <a:t>Live clients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078224"/>
            <a:ext cx="5120640" cy="54864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4078224"/>
            <a:ext cx="36576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1696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2 →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2611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B8D0"/>
                </a:solidFill>
                <a:latin typeface="Calibri"/>
              </a:rPr>
              <a:t>Team members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736592"/>
            <a:ext cx="5120640" cy="54864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4736592"/>
            <a:ext cx="36576" cy="5486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48280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BBC04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919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B8D0"/>
                </a:solidFill>
                <a:latin typeface="Calibri"/>
              </a:rPr>
              <a:t>Open roles (scaling)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5394960"/>
            <a:ext cx="5120640" cy="54864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75120" y="5394960"/>
            <a:ext cx="36576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5486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C9A7"/>
                </a:solidFill>
                <a:latin typeface="Calibri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5778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B8D0"/>
                </a:solidFill>
                <a:latin typeface="Calibri"/>
              </a:rPr>
              <a:t>Delivery success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06 · FULL ORBIT ACHIEVED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med" advClick="1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0880" y="1005840"/>
            <a:ext cx="5303520" cy="5303520"/>
          </a:xfrm>
          <a:prstGeom prst="ellipse">
            <a:avLst/>
          </a:prstGeom>
          <a:noFill/>
          <a:ln w="762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737360"/>
            <a:ext cx="3840480" cy="3840480"/>
          </a:xfrm>
          <a:prstGeom prst="ellipse">
            <a:avLst/>
          </a:prstGeom>
          <a:noFill/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0" y="2468880"/>
            <a:ext cx="2377440" cy="2377440"/>
          </a:xfrm>
          <a:prstGeom prst="ellipse">
            <a:avLst/>
          </a:prstGeom>
          <a:noFill/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B9B"/>
                </a:solidFill>
                <a:latin typeface="Courier New"/>
              </a:rPr>
              <a:t>— OUR CREW · THE ARCHITECTS OF ORBIT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Meet the GCP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D0"/>
                </a:solidFill>
                <a:latin typeface="Calibri"/>
              </a:rPr>
              <a:t>Three specialists. One mission. Limitless ambition.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26464"/>
            <a:ext cx="10607040" cy="635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" y="1307592"/>
            <a:ext cx="237744" cy="23774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15544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B9B"/>
                </a:solidFill>
                <a:latin typeface="Courier New"/>
              </a:rPr>
              <a:t>Jul 2025</a:t>
            </a:r>
          </a:p>
        </p:txBody>
      </p:sp>
      <p:sp>
        <p:nvSpPr>
          <p:cNvPr id="12" name="Oval 11"/>
          <p:cNvSpPr/>
          <p:nvPr/>
        </p:nvSpPr>
        <p:spPr>
          <a:xfrm>
            <a:off x="3968496" y="1307592"/>
            <a:ext cx="237744" cy="23774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5544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B9B"/>
                </a:solidFill>
                <a:latin typeface="Courier New"/>
              </a:rPr>
              <a:t>Jul 2025</a:t>
            </a:r>
          </a:p>
        </p:txBody>
      </p:sp>
      <p:sp>
        <p:nvSpPr>
          <p:cNvPr id="14" name="Oval 13"/>
          <p:cNvSpPr/>
          <p:nvPr/>
        </p:nvSpPr>
        <p:spPr>
          <a:xfrm>
            <a:off x="7507224" y="1307592"/>
            <a:ext cx="237744" cy="23774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6" y="15544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B9B"/>
                </a:solidFill>
                <a:latin typeface="Courier New"/>
              </a:rPr>
              <a:t>Feb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48840"/>
            <a:ext cx="3621024" cy="406908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148840"/>
            <a:ext cx="3621024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640080" y="2267712"/>
            <a:ext cx="603504" cy="603504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13432"/>
            <a:ext cx="6035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90E1A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224028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4285F4"/>
                </a:solidFill>
                <a:latin typeface="Courier New"/>
              </a:rPr>
              <a:t>Sr.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2441448"/>
            <a:ext cx="2706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Practice Lead · GCP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2734056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B9B"/>
                </a:solidFill>
                <a:latin typeface="Courier New"/>
              </a:rPr>
              <a:t>Since Jul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" y="3017520"/>
            <a:ext cx="3291840" cy="635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118104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Leads the GCP Engineering practice end-to-end. Strategy, client relationships, delivery oversight, and team growth. The mission architect.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" y="5742432"/>
            <a:ext cx="588873" cy="219456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5742432"/>
            <a:ext cx="58887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285F4"/>
                </a:solidFill>
                <a:latin typeface="Calibri"/>
              </a:rPr>
              <a:t>Strategy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11249" y="5742432"/>
            <a:ext cx="713232" cy="219456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47825" y="574243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285F4"/>
                </a:solidFill>
                <a:latin typeface="Calibri"/>
              </a:rPr>
              <a:t>Leadership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9345" y="5742432"/>
            <a:ext cx="526694" cy="219456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15921" y="5742432"/>
            <a:ext cx="52669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285F4"/>
                </a:solidFill>
                <a:latin typeface="Calibri"/>
              </a:rPr>
              <a:t>Clients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34256" y="2148840"/>
            <a:ext cx="3621024" cy="406908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34256" y="2148840"/>
            <a:ext cx="3621024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4471416" y="2267712"/>
            <a:ext cx="603504" cy="603504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6" y="2313432"/>
            <a:ext cx="6035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90E1A"/>
                </a:solidFill>
                <a:latin typeface="Calibri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5504" y="224028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Courier New"/>
              </a:rPr>
              <a:t>Consultant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5504" y="2441448"/>
            <a:ext cx="2706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GCP Engineer · Dual-stream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5504" y="2734056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B9B"/>
                </a:solidFill>
                <a:latin typeface="Courier New"/>
              </a:rPr>
              <a:t>Since Jul 2025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8848" y="3017520"/>
            <a:ext cx="3291840" cy="635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3118104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Founding engineer. Delivered the vending pipeline from scratch, managed dual client streams simultaneously, and set the delivery standard for the entire team.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98848" y="5742432"/>
            <a:ext cx="837590" cy="219456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5424" y="5742432"/>
            <a:ext cx="83759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4A853"/>
                </a:solidFill>
                <a:latin typeface="Calibri"/>
              </a:rPr>
              <a:t>GCP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1302" y="5742432"/>
            <a:ext cx="1086307" cy="219456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27878" y="5742432"/>
            <a:ext cx="10863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4A853"/>
                </a:solidFill>
                <a:latin typeface="Calibri"/>
              </a:rPr>
              <a:t>Vending Pipeline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2473" y="5742432"/>
            <a:ext cx="837590" cy="219456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9049" y="5742432"/>
            <a:ext cx="83759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4A853"/>
                </a:solidFill>
                <a:latin typeface="Calibri"/>
              </a:rPr>
              <a:t>Multi-client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65592" y="2148840"/>
            <a:ext cx="3621024" cy="406908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65592" y="2148840"/>
            <a:ext cx="3621024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exagon 47"/>
          <p:cNvSpPr/>
          <p:nvPr/>
        </p:nvSpPr>
        <p:spPr>
          <a:xfrm>
            <a:off x="8302752" y="2267712"/>
            <a:ext cx="603504" cy="603504"/>
          </a:xfrm>
          <a:prstGeom prst="hexag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2752" y="2313432"/>
            <a:ext cx="6035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90E1A"/>
                </a:solidFill>
                <a:latin typeface="Calibri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224028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A855F7"/>
                </a:solidFill>
                <a:latin typeface="Courier New"/>
              </a:rPr>
              <a:t>Engineer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2441448"/>
            <a:ext cx="2706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Delivery Support · GCP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2734056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B9B"/>
                </a:solidFill>
                <a:latin typeface="Courier New"/>
              </a:rPr>
              <a:t>Joined Feb 2026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30184" y="3017520"/>
            <a:ext cx="3291840" cy="635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0184" y="3118104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B8D0"/>
                </a:solidFill>
                <a:latin typeface="Calibri"/>
              </a:rPr>
              <a:t>Third crew member. Joined to deepen delivery capacity, enabling parallel workstreams across the growing client base and accelerating the team's throughput.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30184" y="5742432"/>
            <a:ext cx="837590" cy="219456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5742432"/>
            <a:ext cx="83759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A855F7"/>
                </a:solidFill>
                <a:latin typeface="Calibri"/>
              </a:rPr>
              <a:t>GCP Engineer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22638" y="5742432"/>
            <a:ext cx="588873" cy="219456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59214" y="5742432"/>
            <a:ext cx="58887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A855F7"/>
                </a:solidFill>
                <a:latin typeface="Calibri"/>
              </a:rPr>
              <a:t>Delivery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66375" y="5742432"/>
            <a:ext cx="775411" cy="219456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02951" y="5742432"/>
            <a:ext cx="7754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A855F7"/>
                </a:solidFill>
                <a:latin typeface="Calibri"/>
              </a:rPr>
              <a:t>Team Growth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07 · THE CREW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med" advClick="1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B9B"/>
                </a:solidFill>
                <a:latin typeface="Courier New"/>
              </a:rPr>
              <a:t>— OUR CLIENTS · THE GALAXY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Client Constellation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D0"/>
                </a:solidFill>
                <a:latin typeface="Calibri"/>
              </a:rPr>
              <a:t>4+ live clients  ·  Internal &amp; external engagements  ·  Proven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39312" cy="23317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39312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1664208"/>
            <a:ext cx="841248" cy="201168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64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B9B"/>
                </a:solidFill>
                <a:latin typeface="Courier New"/>
              </a:rPr>
              <a:t>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5" y="16642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Aug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◈ Alpha 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04288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8D0"/>
                </a:solidFill>
                <a:latin typeface="Calibri"/>
              </a:rPr>
              <a:t>GCP Project Vending Pipeline implementation. First internal client proof point and pipeline test case.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3630168"/>
            <a:ext cx="1024128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630168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4285F4"/>
                </a:solidFill>
                <a:latin typeface="Calibri"/>
              </a:rPr>
              <a:t>Vending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630168"/>
            <a:ext cx="608075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4792" y="3630168"/>
            <a:ext cx="6080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4285F4"/>
                </a:solidFill>
                <a:latin typeface="Calibri"/>
              </a:rPr>
              <a:t>GCP Infra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572768"/>
            <a:ext cx="3639312" cy="23317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572768"/>
            <a:ext cx="363931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07992" y="1664208"/>
            <a:ext cx="841248" cy="201168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1664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B9B"/>
                </a:solidFill>
                <a:latin typeface="Courier New"/>
              </a:rPr>
              <a:t>INTERNAL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5" y="16642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Aug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19385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◈ PairD Billing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304288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8D0"/>
                </a:solidFill>
                <a:latin typeface="Calibri"/>
              </a:rPr>
              <a:t>GCP Project Vending integration for billing exports. Parallel delivery stream to Alpha Commerce.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7992" y="3630168"/>
            <a:ext cx="964692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3630168"/>
            <a:ext cx="9646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6B6D4"/>
                </a:solidFill>
                <a:latin typeface="Calibri"/>
              </a:rPr>
              <a:t>Billing Exports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18404" y="3630168"/>
            <a:ext cx="726948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45836" y="3630168"/>
            <a:ext cx="7269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6B6D4"/>
                </a:solidFill>
                <a:latin typeface="Calibri"/>
              </a:rPr>
              <a:t>GCP Vending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1572768"/>
            <a:ext cx="3639312" cy="23317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1572768"/>
            <a:ext cx="3639312" cy="3657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48472" y="1664208"/>
            <a:ext cx="841248" cy="20116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1664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90E1A"/>
                </a:solidFill>
                <a:latin typeface="Courier New"/>
              </a:rPr>
              <a:t>EXTERNAL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5" y="16642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Nov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19385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★ West Brom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2304288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8D0"/>
                </a:solidFill>
                <a:latin typeface="Calibri"/>
              </a:rPr>
              <a:t>Storage Transfer Service: AWS → GCP cross-cloud backup. First billable, revenue-generating engagement.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8472" y="3630168"/>
            <a:ext cx="1024128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3630168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BBC04"/>
                </a:solidFill>
                <a:latin typeface="Calibri"/>
              </a:rPr>
              <a:t>Storage Transfer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3630168"/>
            <a:ext cx="489204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45752" y="3630168"/>
            <a:ext cx="4892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BBC04"/>
                </a:solidFill>
                <a:latin typeface="Calibri"/>
              </a:rPr>
              <a:t>AWS→GCP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53244" y="3630168"/>
            <a:ext cx="489204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80676" y="3630168"/>
            <a:ext cx="4892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BBC04"/>
                </a:solidFill>
                <a:latin typeface="Calibri"/>
              </a:rPr>
              <a:t>Revenue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14015" y="4096512"/>
            <a:ext cx="3639312" cy="23317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14015" y="4096512"/>
            <a:ext cx="3639312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78607" y="4187952"/>
            <a:ext cx="841248" cy="20116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78607" y="418795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90E1A"/>
                </a:solidFill>
                <a:latin typeface="Courier New"/>
              </a:rPr>
              <a:t>EXTERNAL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56430" y="41879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Jan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8607" y="44622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✔ GC Resell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8607" y="4828032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8D0"/>
                </a:solidFill>
                <a:latin typeface="Calibri"/>
              </a:rPr>
              <a:t>Live validation of the vending pipeline at commercial scale. Second consecutive external win.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78607" y="6153912"/>
            <a:ext cx="667512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39" y="6153912"/>
            <a:ext cx="667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34A853"/>
                </a:solidFill>
                <a:latin typeface="Calibri"/>
              </a:rPr>
              <a:t>GCP Resell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39" y="6153912"/>
            <a:ext cx="905256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9271" y="6153912"/>
            <a:ext cx="9052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34A853"/>
                </a:solidFill>
                <a:latin typeface="Calibri"/>
              </a:rPr>
              <a:t>Pipeline Scale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54495" y="4096512"/>
            <a:ext cx="3639312" cy="233172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54495" y="4096512"/>
            <a:ext cx="3639312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19087" y="4187952"/>
            <a:ext cx="841248" cy="20116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7" y="418795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90E1A"/>
                </a:solidFill>
                <a:latin typeface="Courier New"/>
              </a:rPr>
              <a:t>EXTERNAL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96910" y="41879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Apr/May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7" y="44622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◎ YHCR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19087" y="4828032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8D0"/>
                </a:solidFill>
                <a:latin typeface="Calibri"/>
              </a:rPr>
              <a:t>GCP Org environment extension. Latest client — the practice's growing reputation opening new doors.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19087" y="6153912"/>
            <a:ext cx="845819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19" y="6153912"/>
            <a:ext cx="8458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C9A7"/>
                </a:solidFill>
                <a:latin typeface="Calibri"/>
              </a:rPr>
              <a:t>Org Extension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0626" y="6153912"/>
            <a:ext cx="667512" cy="182880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38058" y="6153912"/>
            <a:ext cx="667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C9A7"/>
                </a:solidFill>
                <a:latin typeface="Calibri"/>
              </a:rPr>
              <a:t>New Client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08 · CLIENT CONSTELLATION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med" advClick="1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B9B"/>
                </a:solidFill>
                <a:latin typeface="Courier New"/>
              </a:rPr>
              <a:t>— WHAT'S NEXT · BEYOND FULL ORBIT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Charting New Galaxies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D0"/>
                </a:solidFill>
                <a:latin typeface="Calibri"/>
              </a:rPr>
              <a:t>The mission doesn't stop at orbit. The next chapter is already in motion.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621024" cy="3977639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3621024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929384" y="1883664"/>
            <a:ext cx="768096" cy="768096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9384" y="1883664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90E1A"/>
                </a:solidFill>
                <a:latin typeface="Calibri"/>
              </a:rPr>
              <a:t>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98064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4285F4"/>
                </a:solidFill>
                <a:latin typeface="Courier New"/>
              </a:rPr>
              <a:t>HIRING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01752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3 New Engineers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1912" y="3401568"/>
            <a:ext cx="1463040" cy="952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547872"/>
            <a:ext cx="3364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8B8D0"/>
                </a:solidFill>
                <a:latin typeface="Calibri"/>
              </a:rPr>
              <a:t>Growing the crew to meet demand. Three open roles, actively sourcing experienced GCP engineers across cloud infrastructure, data, and platform delivery.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627632"/>
            <a:ext cx="3621024" cy="3977639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627632"/>
            <a:ext cx="3621024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5751576" y="1883664"/>
            <a:ext cx="768096" cy="768096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1576" y="1883664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90E1A"/>
                </a:solidFill>
                <a:latin typeface="Calibri"/>
              </a:rPr>
              <a:t>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798064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4A853"/>
                </a:solidFill>
                <a:latin typeface="Courier New"/>
              </a:rPr>
              <a:t>PLATFORM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01752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Vending Pipeline for 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4104" y="3401568"/>
            <a:ext cx="1463040" cy="9525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3547872"/>
            <a:ext cx="3364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8B8D0"/>
                </a:solidFill>
                <a:latin typeface="Calibri"/>
              </a:rPr>
              <a:t>Extending the GCP Project Vending Pipeline to more clients. The infrastructure that powers all our delivery — proven in production, ready at scale.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7304" y="1627632"/>
            <a:ext cx="3621024" cy="3977639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47304" y="1627632"/>
            <a:ext cx="3621024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573768" y="1883664"/>
            <a:ext cx="768096" cy="768096"/>
          </a:xfrm>
          <a:prstGeom prst="hexagon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3768" y="1883664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90E1A"/>
                </a:solidFill>
                <a:latin typeface="Calibri"/>
              </a:rPr>
              <a:t>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798064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C9A7"/>
                </a:solidFill>
                <a:latin typeface="Courier New"/>
              </a:rPr>
              <a:t>H2 2026 WINS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301752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Pipeline Growing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3401568"/>
            <a:ext cx="1463040" cy="9525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3547872"/>
            <a:ext cx="3364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8B8D0"/>
                </a:solidFill>
                <a:latin typeface="Calibri"/>
              </a:rPr>
              <a:t>Best chapters are still being written. New client enquiries, expanded scopes, and a market reputation that is opening doors across the region.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779008"/>
            <a:ext cx="9445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"The best chapters are still being written."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144768"/>
            <a:ext cx="9445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7B9B"/>
                </a:solidFill>
                <a:latin typeface="Courier New"/>
              </a:rPr>
              <a:t>GCP Engineering · CMS ·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09 · CHARTING NEW GALAXIES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med" advClick="1">
    <p:cover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95447" y="-137160"/>
            <a:ext cx="6400800" cy="6400800"/>
          </a:xfrm>
          <a:prstGeom prst="ellipse">
            <a:avLst/>
          </a:prstGeom>
          <a:noFill/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718407" y="685800"/>
            <a:ext cx="4754880" cy="4754880"/>
          </a:xfrm>
          <a:prstGeom prst="ellipse">
            <a:avLst/>
          </a:prstGeom>
          <a:noFill/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95647" y="1463040"/>
            <a:ext cx="3200400" cy="3200400"/>
          </a:xfrm>
          <a:prstGeom prst="ellipse">
            <a:avLst/>
          </a:prstGeom>
          <a:noFill/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35727" y="2103120"/>
            <a:ext cx="1920240" cy="1920240"/>
          </a:xfrm>
          <a:prstGeom prst="ellipse">
            <a:avLst/>
          </a:prstGeom>
          <a:noFill/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5501487" y="2468880"/>
            <a:ext cx="1188720" cy="1188720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01487" y="246888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90E1A"/>
                </a:solidFill>
                <a:latin typeface="Calibri"/>
              </a:rPr>
              <a:t>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96012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Mission Accomplished.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230368"/>
            <a:ext cx="8531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B8D0"/>
                </a:solidFill>
                <a:latin typeface="Calibri"/>
              </a:rPr>
              <a:t>GCP Engineering  ·  From Zero to Full Orbit  ·  2025–2026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77840"/>
            <a:ext cx="8531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C9A7"/>
                </a:solidFill>
                <a:latin typeface="Calibri"/>
              </a:rPr>
              <a:t>"The best chapters are still being written."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6016752"/>
            <a:ext cx="3502152" cy="34747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6016752"/>
            <a:ext cx="3447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Questions &amp; Further Exploration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B9B"/>
                </a:solidFill>
                <a:latin typeface="Courier New"/>
              </a:rPr>
              <a:t>SLIDE 10 · MISSION ACCOMPLISHED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ourier New"/>
              </a:rPr>
              <a:t>GCP Engineering · CMS · 2025–2026</a:t>
            </a:r>
          </a:p>
        </p:txBody>
      </p:sp>
    </p:spTree>
  </p:cSld>
  <p:clrMapOvr>
    <a:masterClrMapping/>
  </p:clrMapOvr>
  <p:transition spd="slow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