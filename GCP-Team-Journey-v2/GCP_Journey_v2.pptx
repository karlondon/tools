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65760"/>
            <a:ext cx="5029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6B7B9B"/>
                </a:solidFill>
                <a:latin typeface="Calibri"/>
              </a:rPr>
              <a:t>GCP ENGINEERING  ·  TEAM JOURNEY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58368"/>
            <a:ext cx="5486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Calibri"/>
              </a:rPr>
              <a:t>FROM ZERO TO</a:t>
            </a:r>
          </a:p>
          <a:p>
            <a:r>
              <a:rPr sz="4200" b="1">
                <a:solidFill>
                  <a:srgbClr val="00C9A7"/>
                </a:solidFill>
                <a:latin typeface="Calibri"/>
              </a:rPr>
              <a:t>FULL ORBIT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2240280"/>
            <a:ext cx="2560320" cy="2743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31720"/>
            <a:ext cx="5029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6B7B9B"/>
                </a:solidFill>
                <a:latin typeface="Calibri"/>
              </a:rPr>
              <a:t>A 12-month mission from zero to a fully operational GCP engineering practice — real projects, real clients, real impact.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090672"/>
            <a:ext cx="1207008" cy="804672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3090672"/>
            <a:ext cx="1207008" cy="4114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3182112"/>
            <a:ext cx="1207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4285F4"/>
                </a:solidFill>
                <a:latin typeface="Calibri"/>
              </a:rPr>
              <a:t>2→3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3547872"/>
            <a:ext cx="12070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6B7B9B"/>
                </a:solidFill>
                <a:latin typeface="Calibri"/>
              </a:rPr>
              <a:t>Team Members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764792" y="3090672"/>
            <a:ext cx="1207008" cy="804672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764792" y="3090672"/>
            <a:ext cx="1207008" cy="4114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64792" y="3182112"/>
            <a:ext cx="1207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34A853"/>
                </a:solidFill>
                <a:latin typeface="Calibri"/>
              </a:rPr>
              <a:t>4+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764792" y="3547872"/>
            <a:ext cx="12070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6B7B9B"/>
                </a:solidFill>
                <a:latin typeface="Calibri"/>
              </a:rPr>
              <a:t>Live Clients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072384" y="3090672"/>
            <a:ext cx="1207008" cy="804672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72384" y="3090672"/>
            <a:ext cx="1207008" cy="41148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072384" y="3182112"/>
            <a:ext cx="1207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A855F7"/>
                </a:solidFill>
                <a:latin typeface="Calibri"/>
              </a:rPr>
              <a:t>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72384" y="3547872"/>
            <a:ext cx="12070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6B7B9B"/>
                </a:solidFill>
                <a:latin typeface="Calibri"/>
              </a:rPr>
              <a:t>Open Roles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79976" y="3090672"/>
            <a:ext cx="1207008" cy="804672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79976" y="3090672"/>
            <a:ext cx="1207008" cy="41148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9976" y="3182112"/>
            <a:ext cx="1207008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00C9A7"/>
                </a:solidFill>
                <a:latin typeface="Calibri"/>
              </a:rPr>
              <a:t>12mo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79976" y="3547872"/>
            <a:ext cx="120700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00" b="0">
                <a:solidFill>
                  <a:srgbClr val="6B7B9B"/>
                </a:solidFill>
                <a:latin typeface="Calibri"/>
              </a:rPr>
              <a:t>Journey</a:t>
            </a:r>
          </a:p>
        </p:txBody>
      </p:sp>
      <p:sp>
        <p:nvSpPr>
          <p:cNvPr id="45" name="Oval 44"/>
          <p:cNvSpPr/>
          <p:nvPr/>
        </p:nvSpPr>
        <p:spPr>
          <a:xfrm>
            <a:off x="8641080" y="1600200"/>
            <a:ext cx="1554480" cy="1554480"/>
          </a:xfrm>
          <a:prstGeom prst="ellipse">
            <a:avLst/>
          </a:prstGeom>
          <a:noFill/>
          <a:ln w="15240">
            <a:solidFill>
              <a:srgbClr val="1E3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092440" y="1051560"/>
            <a:ext cx="2651760" cy="2651760"/>
          </a:xfrm>
          <a:prstGeom prst="ellipse">
            <a:avLst/>
          </a:prstGeom>
          <a:noFill/>
          <a:ln w="11430">
            <a:solidFill>
              <a:srgbClr val="18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7543801" y="502921"/>
            <a:ext cx="3749038" cy="3749038"/>
          </a:xfrm>
          <a:prstGeom prst="ellipse">
            <a:avLst/>
          </a:prstGeom>
          <a:noFill/>
          <a:ln w="9525">
            <a:solidFill>
              <a:srgbClr val="132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6995160" y="-45720"/>
            <a:ext cx="4846320" cy="4846320"/>
          </a:xfrm>
          <a:prstGeom prst="ellipse">
            <a:avLst/>
          </a:prstGeom>
          <a:noFill/>
          <a:ln w="6350">
            <a:solidFill>
              <a:srgbClr val="101C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317736" y="2276856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666476" y="2299716"/>
            <a:ext cx="155448" cy="15544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340596" y="3625596"/>
            <a:ext cx="155448" cy="15544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8014716" y="2299716"/>
            <a:ext cx="155448" cy="15544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340596" y="973836"/>
            <a:ext cx="155448" cy="15544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1014269" y="3287267"/>
            <a:ext cx="54864" cy="54864"/>
          </a:xfrm>
          <a:prstGeom prst="ellipse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10328147" y="3973389"/>
            <a:ext cx="54864" cy="54864"/>
          </a:xfrm>
          <a:prstGeom prst="ellipse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8453628" y="3973389"/>
            <a:ext cx="54864" cy="54864"/>
          </a:xfrm>
          <a:prstGeom prst="ellipse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7767506" y="3287267"/>
            <a:ext cx="54864" cy="54864"/>
          </a:xfrm>
          <a:prstGeom prst="ellipse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7767506" y="1412748"/>
            <a:ext cx="54864" cy="54864"/>
          </a:xfrm>
          <a:prstGeom prst="ellipse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8453628" y="726626"/>
            <a:ext cx="54864" cy="54864"/>
          </a:xfrm>
          <a:prstGeom prst="ellipse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10328147" y="726626"/>
            <a:ext cx="54864" cy="54864"/>
          </a:xfrm>
          <a:prstGeom prst="ellipse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014269" y="1412748"/>
            <a:ext cx="54864" cy="54864"/>
          </a:xfrm>
          <a:prstGeom prst="ellipse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0" y="4480560"/>
            <a:ext cx="12188952" cy="237744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0" y="4480560"/>
            <a:ext cx="12188952" cy="32004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4572000"/>
            <a:ext cx="3200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>
                <a:solidFill>
                  <a:srgbClr val="6B7B9B"/>
                </a:solidFill>
                <a:latin typeface="Calibri"/>
              </a:rPr>
              <a:t>MISSION TIMELINE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686800" y="4572000"/>
            <a:ext cx="3383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650" b="0">
                <a:solidFill>
                  <a:srgbClr val="6B7B9B"/>
                </a:solidFill>
                <a:latin typeface="Calibri"/>
              </a:rPr>
              <a:t>8 MILESTONES  ·  JUN 2025 — MAY 2026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81862" y="4725620"/>
            <a:ext cx="9825228" cy="2194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32638" y="4937760"/>
            <a:ext cx="1298448" cy="181051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32638" y="4937760"/>
            <a:ext cx="1298448" cy="50292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96646" y="50017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83A58"/>
                </a:solidFill>
                <a:latin typeface="Calibri"/>
              </a:rPr>
              <a:t>01</a:t>
            </a:r>
          </a:p>
        </p:txBody>
      </p:sp>
      <p:sp>
        <p:nvSpPr>
          <p:cNvPr id="70" name="Hexagon 69"/>
          <p:cNvSpPr/>
          <p:nvPr/>
        </p:nvSpPr>
        <p:spPr>
          <a:xfrm>
            <a:off x="1008126" y="5321808"/>
            <a:ext cx="347472" cy="301752"/>
          </a:xfrm>
          <a:prstGeom prst="hexagon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8126" y="5321808"/>
            <a:ext cx="3474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↺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78358" y="5715000"/>
            <a:ext cx="1207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6B7B9B"/>
                </a:solidFill>
                <a:latin typeface="Calibri"/>
              </a:rPr>
              <a:t>Jun '25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9214" y="591616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Handover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9214" y="6217920"/>
            <a:ext cx="1225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>
                <a:solidFill>
                  <a:srgbClr val="EA4335"/>
                </a:solidFill>
                <a:latin typeface="Calibri"/>
              </a:rPr>
              <a:t>TRANSITION</a:t>
            </a:r>
          </a:p>
        </p:txBody>
      </p:sp>
      <p:sp>
        <p:nvSpPr>
          <p:cNvPr id="75" name="Oval 74"/>
          <p:cNvSpPr/>
          <p:nvPr/>
        </p:nvSpPr>
        <p:spPr>
          <a:xfrm>
            <a:off x="1078535" y="4633265"/>
            <a:ext cx="206654" cy="206654"/>
          </a:xfrm>
          <a:prstGeom prst="ellipse">
            <a:avLst/>
          </a:prstGeom>
          <a:noFill/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1104138" y="4658868"/>
            <a:ext cx="155448" cy="155448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1936242" y="4937760"/>
            <a:ext cx="1298448" cy="181051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936242" y="4937760"/>
            <a:ext cx="1298448" cy="5029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000250" y="50017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83A58"/>
                </a:solidFill>
                <a:latin typeface="Calibri"/>
              </a:rPr>
              <a:t>02</a:t>
            </a:r>
          </a:p>
        </p:txBody>
      </p:sp>
      <p:sp>
        <p:nvSpPr>
          <p:cNvPr id="80" name="Hexagon 79"/>
          <p:cNvSpPr/>
          <p:nvPr/>
        </p:nvSpPr>
        <p:spPr>
          <a:xfrm>
            <a:off x="2411730" y="5321808"/>
            <a:ext cx="347472" cy="301752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411730" y="5321808"/>
            <a:ext cx="3474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⬢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981962" y="5715000"/>
            <a:ext cx="1207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6B7B9B"/>
                </a:solidFill>
                <a:latin typeface="Calibri"/>
              </a:rPr>
              <a:t>Jul '25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72818" y="591616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Foundation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972818" y="6217920"/>
            <a:ext cx="1225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>
                <a:solidFill>
                  <a:srgbClr val="4285F4"/>
                </a:solidFill>
                <a:latin typeface="Calibri"/>
              </a:rPr>
              <a:t>FOUNDATION</a:t>
            </a:r>
          </a:p>
        </p:txBody>
      </p:sp>
      <p:sp>
        <p:nvSpPr>
          <p:cNvPr id="85" name="Oval 84"/>
          <p:cNvSpPr/>
          <p:nvPr/>
        </p:nvSpPr>
        <p:spPr>
          <a:xfrm>
            <a:off x="2482139" y="4633265"/>
            <a:ext cx="206654" cy="206654"/>
          </a:xfrm>
          <a:prstGeom prst="ellipse">
            <a:avLst/>
          </a:prstGeom>
          <a:noFill/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2507742" y="4658868"/>
            <a:ext cx="155448" cy="155448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339846" y="4937760"/>
            <a:ext cx="1298448" cy="181051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339846" y="4937760"/>
            <a:ext cx="1298448" cy="5029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403854" y="50017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83A58"/>
                </a:solidFill>
                <a:latin typeface="Calibri"/>
              </a:rPr>
              <a:t>03</a:t>
            </a:r>
          </a:p>
        </p:txBody>
      </p:sp>
      <p:sp>
        <p:nvSpPr>
          <p:cNvPr id="90" name="Hexagon 89"/>
          <p:cNvSpPr/>
          <p:nvPr/>
        </p:nvSpPr>
        <p:spPr>
          <a:xfrm>
            <a:off x="3815334" y="5321808"/>
            <a:ext cx="347472" cy="301752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815334" y="5321808"/>
            <a:ext cx="3474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⚙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385566" y="5715000"/>
            <a:ext cx="1207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6B7B9B"/>
                </a:solidFill>
                <a:latin typeface="Calibri"/>
              </a:rPr>
              <a:t>Aug '25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376422" y="591616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Pipeline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376422" y="6217920"/>
            <a:ext cx="1225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>
                <a:solidFill>
                  <a:srgbClr val="34A853"/>
                </a:solidFill>
                <a:latin typeface="Calibri"/>
              </a:rPr>
              <a:t>BUILD</a:t>
            </a:r>
          </a:p>
        </p:txBody>
      </p:sp>
      <p:sp>
        <p:nvSpPr>
          <p:cNvPr id="95" name="Oval 94"/>
          <p:cNvSpPr/>
          <p:nvPr/>
        </p:nvSpPr>
        <p:spPr>
          <a:xfrm>
            <a:off x="3885743" y="4633265"/>
            <a:ext cx="206654" cy="206654"/>
          </a:xfrm>
          <a:prstGeom prst="ellipse">
            <a:avLst/>
          </a:prstGeom>
          <a:noFill/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3911346" y="4658868"/>
            <a:ext cx="155448" cy="15544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743450" y="4937760"/>
            <a:ext cx="1298448" cy="181051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743450" y="4937760"/>
            <a:ext cx="1298448" cy="50292"/>
          </a:xfrm>
          <a:prstGeom prst="rect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4807458" y="50017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83A58"/>
                </a:solidFill>
                <a:latin typeface="Calibri"/>
              </a:rPr>
              <a:t>04</a:t>
            </a:r>
          </a:p>
        </p:txBody>
      </p:sp>
      <p:sp>
        <p:nvSpPr>
          <p:cNvPr id="100" name="Hexagon 99"/>
          <p:cNvSpPr/>
          <p:nvPr/>
        </p:nvSpPr>
        <p:spPr>
          <a:xfrm>
            <a:off x="5218938" y="5321808"/>
            <a:ext cx="347472" cy="301752"/>
          </a:xfrm>
          <a:prstGeom prst="hexagon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5218938" y="5321808"/>
            <a:ext cx="3474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090E1A"/>
                </a:solidFill>
                <a:latin typeface="Segoe UI Symbol"/>
              </a:rPr>
              <a:t>★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789170" y="5715000"/>
            <a:ext cx="1207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6B7B9B"/>
                </a:solidFill>
                <a:latin typeface="Calibri"/>
              </a:rPr>
              <a:t>Nov '25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780026" y="591616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West Brom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80026" y="6217920"/>
            <a:ext cx="1225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>
                <a:solidFill>
                  <a:srgbClr val="FBBC04"/>
                </a:solidFill>
                <a:latin typeface="Calibri"/>
              </a:rPr>
              <a:t>FIRST WIN</a:t>
            </a:r>
          </a:p>
        </p:txBody>
      </p:sp>
      <p:sp>
        <p:nvSpPr>
          <p:cNvPr id="105" name="Oval 104"/>
          <p:cNvSpPr/>
          <p:nvPr/>
        </p:nvSpPr>
        <p:spPr>
          <a:xfrm>
            <a:off x="5289347" y="4633265"/>
            <a:ext cx="206654" cy="206654"/>
          </a:xfrm>
          <a:prstGeom prst="ellipse">
            <a:avLst/>
          </a:prstGeom>
          <a:noFill/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5314950" y="4658868"/>
            <a:ext cx="155448" cy="155448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6147054" y="4937760"/>
            <a:ext cx="1298448" cy="181051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6147054" y="4937760"/>
            <a:ext cx="1298448" cy="502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211062" y="50017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83A58"/>
                </a:solidFill>
                <a:latin typeface="Calibri"/>
              </a:rPr>
              <a:t>05</a:t>
            </a:r>
          </a:p>
        </p:txBody>
      </p:sp>
      <p:sp>
        <p:nvSpPr>
          <p:cNvPr id="110" name="Hexagon 109"/>
          <p:cNvSpPr/>
          <p:nvPr/>
        </p:nvSpPr>
        <p:spPr>
          <a:xfrm>
            <a:off x="6622542" y="5321808"/>
            <a:ext cx="347472" cy="301752"/>
          </a:xfrm>
          <a:prstGeom prst="hexagon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622542" y="5321808"/>
            <a:ext cx="3474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192774" y="5715000"/>
            <a:ext cx="1207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6B7B9B"/>
                </a:solidFill>
                <a:latin typeface="Calibri"/>
              </a:rPr>
              <a:t>Jan '26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183630" y="591616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GC Resell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183630" y="6217920"/>
            <a:ext cx="1225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>
                <a:solidFill>
                  <a:srgbClr val="06B6D4"/>
                </a:solidFill>
                <a:latin typeface="Calibri"/>
              </a:rPr>
              <a:t>VALIDATED</a:t>
            </a:r>
          </a:p>
        </p:txBody>
      </p:sp>
      <p:sp>
        <p:nvSpPr>
          <p:cNvPr id="115" name="Oval 114"/>
          <p:cNvSpPr/>
          <p:nvPr/>
        </p:nvSpPr>
        <p:spPr>
          <a:xfrm>
            <a:off x="6692951" y="4633265"/>
            <a:ext cx="206654" cy="206654"/>
          </a:xfrm>
          <a:prstGeom prst="ellipse">
            <a:avLst/>
          </a:prstGeom>
          <a:noFill/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6718554" y="4658868"/>
            <a:ext cx="155448" cy="155448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550658" y="4937760"/>
            <a:ext cx="1298448" cy="181051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7550658" y="4937760"/>
            <a:ext cx="1298448" cy="5029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614666" y="50017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83A58"/>
                </a:solidFill>
                <a:latin typeface="Calibri"/>
              </a:rPr>
              <a:t>06</a:t>
            </a:r>
          </a:p>
        </p:txBody>
      </p:sp>
      <p:sp>
        <p:nvSpPr>
          <p:cNvPr id="120" name="Hexagon 119"/>
          <p:cNvSpPr/>
          <p:nvPr/>
        </p:nvSpPr>
        <p:spPr>
          <a:xfrm>
            <a:off x="8026146" y="5321808"/>
            <a:ext cx="347472" cy="301752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026146" y="5321808"/>
            <a:ext cx="3474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✚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596378" y="5715000"/>
            <a:ext cx="1207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6B7B9B"/>
                </a:solidFill>
                <a:latin typeface="Calibri"/>
              </a:rPr>
              <a:t>Feb '26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587234" y="591616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Team Grows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7587234" y="6217920"/>
            <a:ext cx="1225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>
                <a:solidFill>
                  <a:srgbClr val="34A853"/>
                </a:solidFill>
                <a:latin typeface="Calibri"/>
              </a:rPr>
              <a:t>TEAM +1</a:t>
            </a:r>
          </a:p>
        </p:txBody>
      </p:sp>
      <p:sp>
        <p:nvSpPr>
          <p:cNvPr id="125" name="Oval 124"/>
          <p:cNvSpPr/>
          <p:nvPr/>
        </p:nvSpPr>
        <p:spPr>
          <a:xfrm>
            <a:off x="8096555" y="4633265"/>
            <a:ext cx="206654" cy="206654"/>
          </a:xfrm>
          <a:prstGeom prst="ellipse">
            <a:avLst/>
          </a:prstGeom>
          <a:noFill/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8122158" y="4658868"/>
            <a:ext cx="155448" cy="155448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954262" y="4937760"/>
            <a:ext cx="1298448" cy="181051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954262" y="4937760"/>
            <a:ext cx="1298448" cy="502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018270" y="50017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83A58"/>
                </a:solidFill>
                <a:latin typeface="Calibri"/>
              </a:rPr>
              <a:t>07</a:t>
            </a:r>
          </a:p>
        </p:txBody>
      </p:sp>
      <p:sp>
        <p:nvSpPr>
          <p:cNvPr id="130" name="Hexagon 129"/>
          <p:cNvSpPr/>
          <p:nvPr/>
        </p:nvSpPr>
        <p:spPr>
          <a:xfrm>
            <a:off x="9429750" y="5321808"/>
            <a:ext cx="347472" cy="301752"/>
          </a:xfrm>
          <a:prstGeom prst="hexag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429750" y="5321808"/>
            <a:ext cx="3474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▲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999982" y="5715000"/>
            <a:ext cx="1207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6B7B9B"/>
                </a:solidFill>
                <a:latin typeface="Calibri"/>
              </a:rPr>
              <a:t>Mar '26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990838" y="591616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3 Roles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990838" y="6217920"/>
            <a:ext cx="1225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>
                <a:solidFill>
                  <a:srgbClr val="A855F7"/>
                </a:solidFill>
                <a:latin typeface="Calibri"/>
              </a:rPr>
              <a:t>GROWTH</a:t>
            </a:r>
          </a:p>
        </p:txBody>
      </p:sp>
      <p:sp>
        <p:nvSpPr>
          <p:cNvPr id="135" name="Oval 134"/>
          <p:cNvSpPr/>
          <p:nvPr/>
        </p:nvSpPr>
        <p:spPr>
          <a:xfrm>
            <a:off x="9500159" y="4633265"/>
            <a:ext cx="206654" cy="206654"/>
          </a:xfrm>
          <a:prstGeom prst="ellipse">
            <a:avLst/>
          </a:prstGeom>
          <a:noFill/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9525762" y="4658868"/>
            <a:ext cx="155448" cy="155448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10357866" y="4937760"/>
            <a:ext cx="1298448" cy="181051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357866" y="4937760"/>
            <a:ext cx="1298448" cy="5029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421874" y="5001768"/>
            <a:ext cx="411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300" b="1">
                <a:solidFill>
                  <a:srgbClr val="283A58"/>
                </a:solidFill>
                <a:latin typeface="Calibri"/>
              </a:rPr>
              <a:t>08</a:t>
            </a:r>
          </a:p>
        </p:txBody>
      </p:sp>
      <p:sp>
        <p:nvSpPr>
          <p:cNvPr id="140" name="Hexagon 139"/>
          <p:cNvSpPr/>
          <p:nvPr/>
        </p:nvSpPr>
        <p:spPr>
          <a:xfrm>
            <a:off x="10833354" y="5321808"/>
            <a:ext cx="347472" cy="301752"/>
          </a:xfrm>
          <a:prstGeom prst="hexagon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10833354" y="5321808"/>
            <a:ext cx="347472" cy="3017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 Symbol"/>
              </a:rPr>
              <a:t>◎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403586" y="5715000"/>
            <a:ext cx="120700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650" b="0">
                <a:solidFill>
                  <a:srgbClr val="6B7B9B"/>
                </a:solidFill>
                <a:latin typeface="Calibri"/>
              </a:rPr>
              <a:t>Apr '26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394442" y="5916168"/>
            <a:ext cx="1225296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Calibri"/>
              </a:rPr>
              <a:t>YHCR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394442" y="6217920"/>
            <a:ext cx="1225296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>
                <a:solidFill>
                  <a:srgbClr val="00C9A7"/>
                </a:solidFill>
                <a:latin typeface="Calibri"/>
              </a:rPr>
              <a:t>NEW CLIENT</a:t>
            </a:r>
          </a:p>
        </p:txBody>
      </p:sp>
      <p:sp>
        <p:nvSpPr>
          <p:cNvPr id="145" name="Oval 144"/>
          <p:cNvSpPr/>
          <p:nvPr/>
        </p:nvSpPr>
        <p:spPr>
          <a:xfrm>
            <a:off x="10903763" y="4633265"/>
            <a:ext cx="206654" cy="206654"/>
          </a:xfrm>
          <a:prstGeom prst="ellipse">
            <a:avLst/>
          </a:prstGeom>
          <a:noFill/>
          <a:ln w="12700">
            <a:solidFill>
              <a:srgbClr val="283A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10929366" y="4658868"/>
            <a:ext cx="155448" cy="155448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0" y="9144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0" y="18288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27432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0" y="36576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0" y="45720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54864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0" y="6400800"/>
            <a:ext cx="12188952" cy="7315"/>
          </a:xfrm>
          <a:prstGeom prst="rect">
            <a:avLst/>
          </a:prstGeom>
          <a:solidFill>
            <a:srgbClr val="111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0" y="0"/>
            <a:ext cx="12188952" cy="896112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0"/>
            <a:ext cx="12188952" cy="36576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109728"/>
            <a:ext cx="6400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MISSION REPORT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66928"/>
            <a:ext cx="4572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0">
                <a:solidFill>
                  <a:srgbClr val="6B7B9B"/>
                </a:solidFill>
                <a:latin typeface="Calibri"/>
              </a:rPr>
              <a:t>GCP Engineering Team  ·  2025—2026</a:t>
            </a:r>
          </a:p>
        </p:txBody>
      </p:sp>
      <p:sp>
        <p:nvSpPr>
          <p:cNvPr id="29" name="Oval 28"/>
          <p:cNvSpPr/>
          <p:nvPr/>
        </p:nvSpPr>
        <p:spPr>
          <a:xfrm>
            <a:off x="7072884" y="201168"/>
            <a:ext cx="118872" cy="118872"/>
          </a:xfrm>
          <a:prstGeom prst="ellipse">
            <a:avLst/>
          </a:prstGeom>
          <a:solidFill>
            <a:srgbClr val="EA43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191756" y="246888"/>
            <a:ext cx="551252" cy="731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76288" y="347472"/>
            <a:ext cx="53035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6B7B9B"/>
                </a:solidFill>
                <a:latin typeface="Calibri"/>
              </a:rPr>
              <a:t>Jun '25</a:t>
            </a:r>
          </a:p>
        </p:txBody>
      </p:sp>
      <p:sp>
        <p:nvSpPr>
          <p:cNvPr id="32" name="Oval 31"/>
          <p:cNvSpPr/>
          <p:nvPr/>
        </p:nvSpPr>
        <p:spPr>
          <a:xfrm>
            <a:off x="7743008" y="201168"/>
            <a:ext cx="118872" cy="118872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861880" y="246888"/>
            <a:ext cx="551252" cy="731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413133" y="201168"/>
            <a:ext cx="118872" cy="11887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32005" y="246888"/>
            <a:ext cx="551252" cy="731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6537" y="347472"/>
            <a:ext cx="53035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6B7B9B"/>
                </a:solidFill>
                <a:latin typeface="Calibri"/>
              </a:rPr>
              <a:t>Aug '25</a:t>
            </a:r>
          </a:p>
        </p:txBody>
      </p:sp>
      <p:sp>
        <p:nvSpPr>
          <p:cNvPr id="37" name="Oval 36"/>
          <p:cNvSpPr/>
          <p:nvPr/>
        </p:nvSpPr>
        <p:spPr>
          <a:xfrm>
            <a:off x="9083257" y="201168"/>
            <a:ext cx="118872" cy="118872"/>
          </a:xfrm>
          <a:prstGeom prst="ellipse">
            <a:avLst/>
          </a:prstGeom>
          <a:solidFill>
            <a:srgbClr val="FBBC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9202129" y="246888"/>
            <a:ext cx="551252" cy="731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9753382" y="201168"/>
            <a:ext cx="118872" cy="118872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872254" y="246888"/>
            <a:ext cx="551252" cy="731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56786" y="347472"/>
            <a:ext cx="53035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6B7B9B"/>
                </a:solidFill>
                <a:latin typeface="Calibri"/>
              </a:rPr>
              <a:t>Jan '26</a:t>
            </a:r>
          </a:p>
        </p:txBody>
      </p:sp>
      <p:sp>
        <p:nvSpPr>
          <p:cNvPr id="42" name="Oval 41"/>
          <p:cNvSpPr/>
          <p:nvPr/>
        </p:nvSpPr>
        <p:spPr>
          <a:xfrm>
            <a:off x="10423506" y="201168"/>
            <a:ext cx="118872" cy="118872"/>
          </a:xfrm>
          <a:prstGeom prst="ellipse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542378" y="246888"/>
            <a:ext cx="551252" cy="731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093631" y="201168"/>
            <a:ext cx="118872" cy="118872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212503" y="246888"/>
            <a:ext cx="551252" cy="7315"/>
          </a:xfrm>
          <a:prstGeom prst="rect">
            <a:avLst/>
          </a:prstGeom>
          <a:solidFill>
            <a:srgbClr val="283A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897035" y="347472"/>
            <a:ext cx="530352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00" b="0">
                <a:solidFill>
                  <a:srgbClr val="6B7B9B"/>
                </a:solidFill>
                <a:latin typeface="Calibri"/>
              </a:rPr>
              <a:t>Mar '26</a:t>
            </a:r>
          </a:p>
        </p:txBody>
      </p:sp>
      <p:sp>
        <p:nvSpPr>
          <p:cNvPr id="47" name="Oval 46"/>
          <p:cNvSpPr/>
          <p:nvPr/>
        </p:nvSpPr>
        <p:spPr>
          <a:xfrm>
            <a:off x="11763756" y="201168"/>
            <a:ext cx="118872" cy="118872"/>
          </a:xfrm>
          <a:prstGeom prst="ellipse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37744" y="1005840"/>
            <a:ext cx="3767328" cy="537667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37744" y="1005840"/>
            <a:ext cx="50292" cy="5376672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65760" y="1097280"/>
            <a:ext cx="35844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34A853"/>
                </a:solidFill>
                <a:latin typeface="Calibri"/>
              </a:rPr>
              <a:t>THE TEAM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9184" y="144475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Hexagon 51"/>
          <p:cNvSpPr/>
          <p:nvPr/>
        </p:nvSpPr>
        <p:spPr>
          <a:xfrm>
            <a:off x="393192" y="1536192"/>
            <a:ext cx="237744" cy="210312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93192" y="150876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94944" y="151790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Sr. Manager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944" y="171907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Practice Lead · GCP Engineering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4944" y="208483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34A853"/>
                </a:solidFill>
                <a:latin typeface="Calibri"/>
              </a:rPr>
              <a:t>Since Jul 2025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" y="245059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Hexagon 57"/>
          <p:cNvSpPr/>
          <p:nvPr/>
        </p:nvSpPr>
        <p:spPr>
          <a:xfrm>
            <a:off x="393192" y="2542032"/>
            <a:ext cx="237744" cy="210312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3192" y="251460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⚙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4944" y="252374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Consultant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4944" y="272491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GCP Engineer · Dual-stream delivery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944" y="309067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34A853"/>
                </a:solidFill>
                <a:latin typeface="Calibri"/>
              </a:rPr>
              <a:t>Since Jul 2025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29184" y="345643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Hexagon 63"/>
          <p:cNvSpPr/>
          <p:nvPr/>
        </p:nvSpPr>
        <p:spPr>
          <a:xfrm>
            <a:off x="393192" y="3547872"/>
            <a:ext cx="237744" cy="210312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93192" y="352044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✚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94944" y="352958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Engineer #3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4944" y="373075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Delivery Support · GCP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4944" y="409651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34A853"/>
                </a:solidFill>
                <a:latin typeface="Calibri"/>
              </a:rPr>
              <a:t>Joined Feb 2026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29184" y="446227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Hexagon 69"/>
          <p:cNvSpPr/>
          <p:nvPr/>
        </p:nvSpPr>
        <p:spPr>
          <a:xfrm>
            <a:off x="393192" y="4553712"/>
            <a:ext cx="237744" cy="210312"/>
          </a:xfrm>
          <a:prstGeom prst="hexagon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93192" y="452628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4944" y="453542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3 Open Roles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94944" y="473659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Scaling to meet growing demand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94944" y="510235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34A853"/>
                </a:solidFill>
                <a:latin typeface="Calibri"/>
              </a:rPr>
              <a:t>Hiring Now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210812" y="1005840"/>
            <a:ext cx="3767328" cy="537667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210812" y="1005840"/>
            <a:ext cx="50292" cy="5376672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38828" y="1097280"/>
            <a:ext cx="35844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4285F4"/>
                </a:solidFill>
                <a:latin typeface="Calibri"/>
              </a:rPr>
              <a:t>THE CLIENTS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302252" y="144475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Hexagon 78"/>
          <p:cNvSpPr/>
          <p:nvPr/>
        </p:nvSpPr>
        <p:spPr>
          <a:xfrm>
            <a:off x="4366260" y="1536192"/>
            <a:ext cx="237744" cy="210312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366260" y="150876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⬢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668012" y="151790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Alpha Commerce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668012" y="171907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Internal · Project Vending Pipeline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668012" y="208483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4285F4"/>
                </a:solidFill>
                <a:latin typeface="Calibri"/>
              </a:rPr>
              <a:t>Aug 2025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302252" y="245059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Hexagon 84"/>
          <p:cNvSpPr/>
          <p:nvPr/>
        </p:nvSpPr>
        <p:spPr>
          <a:xfrm>
            <a:off x="4366260" y="2542032"/>
            <a:ext cx="237744" cy="210312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366260" y="251460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◎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668012" y="252374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PairD Billing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668012" y="272491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Internal · GCP Project Vending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668012" y="309067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4285F4"/>
                </a:solidFill>
                <a:latin typeface="Calibri"/>
              </a:rPr>
              <a:t>Aug 2025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02252" y="345643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Hexagon 90"/>
          <p:cNvSpPr/>
          <p:nvPr/>
        </p:nvSpPr>
        <p:spPr>
          <a:xfrm>
            <a:off x="4366260" y="3547872"/>
            <a:ext cx="237744" cy="210312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366260" y="352044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68012" y="352958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West Brom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668012" y="373075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External · Storage Transfer Service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668012" y="409651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4285F4"/>
                </a:solidFill>
                <a:latin typeface="Calibri"/>
              </a:rPr>
              <a:t>Nov 2025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4302252" y="446227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Hexagon 96"/>
          <p:cNvSpPr/>
          <p:nvPr/>
        </p:nvSpPr>
        <p:spPr>
          <a:xfrm>
            <a:off x="4366260" y="4553712"/>
            <a:ext cx="237744" cy="210312"/>
          </a:xfrm>
          <a:prstGeom prst="hexagon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4366260" y="452628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✔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68012" y="453542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GC Resell + YHCR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68012" y="473659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External · Resell &amp; New Client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668012" y="510235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4285F4"/>
                </a:solidFill>
                <a:latin typeface="Calibri"/>
              </a:rPr>
              <a:t>Jan–May 2026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183880" y="1005840"/>
            <a:ext cx="3767328" cy="5376672"/>
          </a:xfrm>
          <a:prstGeom prst="rect">
            <a:avLst/>
          </a:prstGeom>
          <a:solidFill>
            <a:srgbClr val="1A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8183880" y="1005840"/>
            <a:ext cx="50292" cy="537667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311896" y="1097280"/>
            <a:ext cx="3584448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A855F7"/>
                </a:solidFill>
                <a:latin typeface="Calibri"/>
              </a:rPr>
              <a:t>WHAT'S NEXT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75320" y="144475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Hexagon 105"/>
          <p:cNvSpPr/>
          <p:nvPr/>
        </p:nvSpPr>
        <p:spPr>
          <a:xfrm>
            <a:off x="8339328" y="1536192"/>
            <a:ext cx="237744" cy="210312"/>
          </a:xfrm>
          <a:prstGeom prst="hexag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339328" y="150876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▲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8641080" y="151790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3 New Engineers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8641080" y="171907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Growing the crew to meet demand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641080" y="208483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A855F7"/>
                </a:solidFill>
                <a:latin typeface="Calibri"/>
              </a:rPr>
              <a:t>Hiring 2026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275320" y="245059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Hexagon 111"/>
          <p:cNvSpPr/>
          <p:nvPr/>
        </p:nvSpPr>
        <p:spPr>
          <a:xfrm>
            <a:off x="8339328" y="2542032"/>
            <a:ext cx="237744" cy="210312"/>
          </a:xfrm>
          <a:prstGeom prst="hexag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339328" y="251460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◎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41080" y="252374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YHCR Launch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641080" y="272491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New client go-live incoming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641080" y="309067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A855F7"/>
                </a:solidFill>
                <a:latin typeface="Calibri"/>
              </a:rPr>
              <a:t>Apr/May 2026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275320" y="345643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Hexagon 117"/>
          <p:cNvSpPr/>
          <p:nvPr/>
        </p:nvSpPr>
        <p:spPr>
          <a:xfrm>
            <a:off x="8339328" y="3547872"/>
            <a:ext cx="237744" cy="210312"/>
          </a:xfrm>
          <a:prstGeom prst="hexag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339328" y="352044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⚙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641080" y="352958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Platform Scale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41080" y="373075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Vending Pipeline for more clients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641080" y="409651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A855F7"/>
                </a:solidFill>
                <a:latin typeface="Calibri"/>
              </a:rPr>
              <a:t>Roadmap 2026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8275320" y="4462272"/>
            <a:ext cx="3630168" cy="932688"/>
          </a:xfrm>
          <a:prstGeom prst="rect">
            <a:avLst/>
          </a:prstGeom>
          <a:solidFill>
            <a:srgbClr val="0D15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Hexagon 123"/>
          <p:cNvSpPr/>
          <p:nvPr/>
        </p:nvSpPr>
        <p:spPr>
          <a:xfrm>
            <a:off x="8339328" y="4553712"/>
            <a:ext cx="237744" cy="210312"/>
          </a:xfrm>
          <a:prstGeom prst="hexag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339328" y="4526280"/>
            <a:ext cx="237744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Segoe UI Symbol"/>
              </a:rPr>
              <a:t>★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8641080" y="4535424"/>
            <a:ext cx="3172968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Calibri"/>
              </a:rPr>
              <a:t>More Wins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8641080" y="4736592"/>
            <a:ext cx="317296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>
                <a:solidFill>
                  <a:srgbClr val="6B7B9B"/>
                </a:solidFill>
                <a:latin typeface="Calibri"/>
              </a:rPr>
              <a:t>Pipeline growing — best is ahead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41080" y="5102352"/>
            <a:ext cx="317296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>
                <a:solidFill>
                  <a:srgbClr val="A855F7"/>
                </a:solidFill>
                <a:latin typeface="Calibri"/>
              </a:rPr>
              <a:t>H2 2026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0E1D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0" y="6400800"/>
            <a:ext cx="12188952" cy="27432"/>
          </a:xfrm>
          <a:prstGeom prst="rect">
            <a:avLst/>
          </a:prstGeom>
          <a:solidFill>
            <a:srgbClr val="00C9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57200" y="6473952"/>
            <a:ext cx="7315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00" b="0">
                <a:solidFill>
                  <a:srgbClr val="6B7B9B"/>
                </a:solidFill>
                <a:latin typeface="Calibri"/>
              </a:rPr>
              <a:t>“The best chapters are still being written.”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589520" y="6473952"/>
            <a:ext cx="448056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700" b="0">
                <a:solidFill>
                  <a:srgbClr val="6B7B9B"/>
                </a:solidFill>
                <a:latin typeface="Calibri"/>
              </a:rPr>
              <a:t>Team · 2→3 members  |  Clients · 4+  |  Roles · 3 open  |  Journey · 12 months</a:t>
            </a:r>
          </a:p>
        </p:txBody>
      </p:sp>
    </p:spTree>
  </p:cSld>
  <p:clrMapOvr>
    <a:masterClrMapping/>
  </p:clrMapOvr>
  <p:transition spd="med" advClick="1">
    <p:cover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