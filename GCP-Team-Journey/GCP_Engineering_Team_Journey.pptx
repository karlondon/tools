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238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3047238" cy="76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4476" y="0"/>
            <a:ext cx="3047238" cy="762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1714" y="0"/>
            <a:ext cx="3047238" cy="7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21945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285F4"/>
                </a:solidFill>
                <a:latin typeface="Calibri"/>
              </a:rPr>
              <a:t>CMS  ·  GCP ENGINEERING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4864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 Light"/>
              </a:rPr>
              <a:t>From Zero
to Full Orbit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23744"/>
            <a:ext cx="384048" cy="6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2523744"/>
            <a:ext cx="384048" cy="635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07008" y="2523744"/>
            <a:ext cx="384048" cy="635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27632" y="2523744"/>
            <a:ext cx="384048" cy="635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2688336"/>
            <a:ext cx="40233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6A8"/>
                </a:solidFill>
                <a:latin typeface="Calibri"/>
              </a:rPr>
              <a:t>A team that inherited nothing, built everything,
and is now a full GCP Engineering practice
— in under a year.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21024"/>
            <a:ext cx="3291840" cy="384048"/>
          </a:xfrm>
          <a:prstGeom prst="rect">
            <a:avLst/>
          </a:prstGeom>
          <a:solidFill>
            <a:srgbClr val="081428"/>
          </a:solidFill>
          <a:ln w="152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6393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285F4"/>
                </a:solidFill>
                <a:latin typeface="Calibri"/>
              </a:rPr>
              <a:t>🚀  June 2025  →  Present  ·  Ongoing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69663"/>
            <a:ext cx="987552" cy="1078992"/>
          </a:xfrm>
          <a:prstGeom prst="rect">
            <a:avLst/>
          </a:prstGeom>
          <a:solidFill>
            <a:srgbClr val="161E2A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4169663"/>
            <a:ext cx="987552" cy="6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261103"/>
            <a:ext cx="987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285F4"/>
                </a:solidFill>
                <a:latin typeface="Calibr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828031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B96A8"/>
                </a:solidFill>
                <a:latin typeface="Calibri"/>
              </a:rPr>
              <a:t>MONTHS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4169663"/>
            <a:ext cx="987552" cy="1078992"/>
          </a:xfrm>
          <a:prstGeom prst="rect">
            <a:avLst/>
          </a:prstGeom>
          <a:solidFill>
            <a:srgbClr val="161E2A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463040" y="4169663"/>
            <a:ext cx="987552" cy="635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63040" y="4261103"/>
            <a:ext cx="987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4A853"/>
                </a:solidFill>
                <a:latin typeface="Calibri"/>
              </a:rPr>
              <a:t>2→3+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828031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B96A8"/>
                </a:solidFill>
                <a:latin typeface="Calibri"/>
              </a:rPr>
              <a:t>TEAM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4169663"/>
            <a:ext cx="987552" cy="1078992"/>
          </a:xfrm>
          <a:prstGeom prst="rect">
            <a:avLst/>
          </a:prstGeom>
          <a:solidFill>
            <a:srgbClr val="161E2A"/>
          </a:solidFill>
          <a:ln w="127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560320" y="4169663"/>
            <a:ext cx="987552" cy="635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0320" y="4261103"/>
            <a:ext cx="987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BBC04"/>
                </a:solidFill>
                <a:latin typeface="Calibri"/>
              </a:rPr>
              <a:t>4+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828031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B96A8"/>
                </a:solidFill>
                <a:latin typeface="Calibri"/>
              </a:rPr>
              <a:t>CLIENTS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4169663"/>
            <a:ext cx="987552" cy="1078992"/>
          </a:xfrm>
          <a:prstGeom prst="rect">
            <a:avLst/>
          </a:prstGeom>
          <a:solidFill>
            <a:srgbClr val="161E2A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0" y="4169663"/>
            <a:ext cx="987552" cy="635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0" y="4261103"/>
            <a:ext cx="987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A4335"/>
                </a:solidFill>
                <a:latin typeface="Calibri"/>
              </a:rPr>
              <a:t>1st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828031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B96A8"/>
                </a:solidFill>
                <a:latin typeface="Calibri"/>
              </a:rPr>
              <a:t>REVENUE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592" y="0"/>
            <a:ext cx="7452360" cy="6858000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36592" y="0"/>
            <a:ext cx="38100" cy="685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10912" y="201168"/>
            <a:ext cx="7178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285F4"/>
                </a:solidFill>
                <a:latin typeface="Calibri"/>
              </a:rPr>
              <a:t>THE JOURNEY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912" y="475488"/>
            <a:ext cx="7178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6A8"/>
                </a:solidFill>
                <a:latin typeface="Calibri"/>
              </a:rPr>
              <a:t>8 milestones  ·  Jun 2025 → May 2026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99380" y="841248"/>
            <a:ext cx="25400" cy="5303520"/>
          </a:xfrm>
          <a:prstGeom prst="rect">
            <a:avLst/>
          </a:prstGeom>
          <a:solidFill>
            <a:srgbClr val="28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088636" y="809244"/>
            <a:ext cx="246888" cy="246888"/>
          </a:xfrm>
          <a:prstGeom prst="ellipse">
            <a:avLst/>
          </a:prstGeom>
          <a:solidFill>
            <a:srgbClr val="21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120640" y="841248"/>
            <a:ext cx="182880" cy="18288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49824" y="777240"/>
            <a:ext cx="6757416" cy="694944"/>
          </a:xfrm>
          <a:prstGeom prst="rect">
            <a:avLst/>
          </a:prstGeom>
          <a:solidFill>
            <a:srgbClr val="1C2634"/>
          </a:solidFill>
          <a:ln w="6350">
            <a:solidFill>
              <a:srgbClr val="28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49824" y="777240"/>
            <a:ext cx="45720" cy="6949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541264" y="79552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A4335"/>
                </a:solidFill>
                <a:latin typeface="Calibri"/>
              </a:rPr>
              <a:t>Jun 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41264" y="1005840"/>
            <a:ext cx="6592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🔄 Service Transition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41264" y="1207008"/>
            <a:ext cx="6592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6A8"/>
                </a:solidFill>
                <a:latin typeface="Calibri"/>
              </a:rPr>
              <a:t>Handover — knowledge transfer &amp; risk documentation</a:t>
            </a:r>
          </a:p>
        </p:txBody>
      </p:sp>
      <p:sp>
        <p:nvSpPr>
          <p:cNvPr id="44" name="Oval 43"/>
          <p:cNvSpPr/>
          <p:nvPr/>
        </p:nvSpPr>
        <p:spPr>
          <a:xfrm>
            <a:off x="5088636" y="1540764"/>
            <a:ext cx="246888" cy="246888"/>
          </a:xfrm>
          <a:prstGeom prst="ellipse">
            <a:avLst/>
          </a:prstGeom>
          <a:solidFill>
            <a:srgbClr val="09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120640" y="1572768"/>
            <a:ext cx="182880" cy="1828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449824" y="1508760"/>
            <a:ext cx="6757416" cy="694944"/>
          </a:xfrm>
          <a:prstGeom prst="rect">
            <a:avLst/>
          </a:prstGeom>
          <a:solidFill>
            <a:srgbClr val="1C2634"/>
          </a:solidFill>
          <a:ln w="6350">
            <a:solidFill>
              <a:srgbClr val="28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449824" y="1508760"/>
            <a:ext cx="45720" cy="6949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541264" y="152704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285F4"/>
                </a:solidFill>
                <a:latin typeface="Calibri"/>
              </a:rPr>
              <a:t>Jul 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41264" y="1737360"/>
            <a:ext cx="6592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🌱 Team Established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41264" y="1938528"/>
            <a:ext cx="6592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6A8"/>
                </a:solidFill>
                <a:latin typeface="Calibri"/>
              </a:rPr>
              <a:t>2 people, 2 streams — Sr Manager + Consultant</a:t>
            </a:r>
          </a:p>
        </p:txBody>
      </p:sp>
      <p:sp>
        <p:nvSpPr>
          <p:cNvPr id="51" name="Oval 50"/>
          <p:cNvSpPr/>
          <p:nvPr/>
        </p:nvSpPr>
        <p:spPr>
          <a:xfrm>
            <a:off x="5088636" y="2272284"/>
            <a:ext cx="246888" cy="246888"/>
          </a:xfrm>
          <a:prstGeom prst="ellipse">
            <a:avLst/>
          </a:prstGeom>
          <a:solidFill>
            <a:srgbClr val="071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5120640" y="230428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449824" y="2240280"/>
            <a:ext cx="6757416" cy="694944"/>
          </a:xfrm>
          <a:prstGeom prst="rect">
            <a:avLst/>
          </a:prstGeom>
          <a:solidFill>
            <a:srgbClr val="1C2634"/>
          </a:solidFill>
          <a:ln w="6350">
            <a:solidFill>
              <a:srgbClr val="28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449824" y="2240280"/>
            <a:ext cx="45720" cy="6949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41264" y="225856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4A853"/>
                </a:solidFill>
                <a:latin typeface="Calibri"/>
              </a:rPr>
              <a:t>Aug–Nov 2025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41264" y="2468880"/>
            <a:ext cx="6592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🏗️  Vending Pipeline Delivered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41264" y="2670048"/>
            <a:ext cx="6592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6A8"/>
                </a:solidFill>
                <a:latin typeface="Calibri"/>
              </a:rPr>
              <a:t>GCP Project Vending Pipeline scoped, built &amp; live</a:t>
            </a:r>
          </a:p>
        </p:txBody>
      </p:sp>
      <p:sp>
        <p:nvSpPr>
          <p:cNvPr id="58" name="Oval 57"/>
          <p:cNvSpPr/>
          <p:nvPr/>
        </p:nvSpPr>
        <p:spPr>
          <a:xfrm>
            <a:off x="5088636" y="3003804"/>
            <a:ext cx="246888" cy="246888"/>
          </a:xfrm>
          <a:prstGeom prst="ellipse">
            <a:avLst/>
          </a:prstGeom>
          <a:solidFill>
            <a:srgbClr val="23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5120640" y="3035808"/>
            <a:ext cx="182880" cy="18288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449824" y="2971800"/>
            <a:ext cx="6757416" cy="694944"/>
          </a:xfrm>
          <a:prstGeom prst="rect">
            <a:avLst/>
          </a:prstGeom>
          <a:solidFill>
            <a:srgbClr val="1C2634"/>
          </a:solidFill>
          <a:ln w="6350">
            <a:solidFill>
              <a:srgbClr val="28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449824" y="2971800"/>
            <a:ext cx="45720" cy="6949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541264" y="299008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BBC04"/>
                </a:solidFill>
                <a:latin typeface="Calibri"/>
              </a:rPr>
              <a:t>Nov 2025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41264" y="3200400"/>
            <a:ext cx="6592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⭐ First Chargeable Win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41264" y="3401568"/>
            <a:ext cx="6592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6A8"/>
                </a:solidFill>
                <a:latin typeface="Calibri"/>
              </a:rPr>
              <a:t>West Brom — Storage Transfer Service, AWS→GCP</a:t>
            </a:r>
          </a:p>
        </p:txBody>
      </p:sp>
      <p:sp>
        <p:nvSpPr>
          <p:cNvPr id="65" name="Oval 64"/>
          <p:cNvSpPr/>
          <p:nvPr/>
        </p:nvSpPr>
        <p:spPr>
          <a:xfrm>
            <a:off x="5088636" y="3735324"/>
            <a:ext cx="246888" cy="246888"/>
          </a:xfrm>
          <a:prstGeom prst="ellipse">
            <a:avLst/>
          </a:prstGeom>
          <a:solidFill>
            <a:srgbClr val="09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5120640" y="3767328"/>
            <a:ext cx="182880" cy="1828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449824" y="3703320"/>
            <a:ext cx="6757416" cy="694944"/>
          </a:xfrm>
          <a:prstGeom prst="rect">
            <a:avLst/>
          </a:prstGeom>
          <a:solidFill>
            <a:srgbClr val="1C2634"/>
          </a:solidFill>
          <a:ln w="6350">
            <a:solidFill>
              <a:srgbClr val="28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449824" y="3703320"/>
            <a:ext cx="45720" cy="6949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541264" y="372160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285F4"/>
                </a:solidFill>
                <a:latin typeface="Calibri"/>
              </a:rPr>
              <a:t>Jan 2026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41264" y="3931920"/>
            <a:ext cx="6592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🧪 Live Validation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41264" y="4133088"/>
            <a:ext cx="6592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6A8"/>
                </a:solidFill>
                <a:latin typeface="Calibri"/>
              </a:rPr>
              <a:t>GC Resell — pipeline proven in production</a:t>
            </a:r>
          </a:p>
        </p:txBody>
      </p:sp>
      <p:sp>
        <p:nvSpPr>
          <p:cNvPr id="72" name="Oval 71"/>
          <p:cNvSpPr/>
          <p:nvPr/>
        </p:nvSpPr>
        <p:spPr>
          <a:xfrm>
            <a:off x="5088636" y="4466844"/>
            <a:ext cx="246888" cy="246888"/>
          </a:xfrm>
          <a:prstGeom prst="ellipse">
            <a:avLst/>
          </a:prstGeom>
          <a:solidFill>
            <a:srgbClr val="0718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5120640" y="4498848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449824" y="4434840"/>
            <a:ext cx="6757416" cy="694944"/>
          </a:xfrm>
          <a:prstGeom prst="rect">
            <a:avLst/>
          </a:prstGeom>
          <a:solidFill>
            <a:srgbClr val="1C2634"/>
          </a:solidFill>
          <a:ln w="6350">
            <a:solidFill>
              <a:srgbClr val="28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449824" y="4434840"/>
            <a:ext cx="45720" cy="6949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41264" y="445312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4A853"/>
                </a:solidFill>
                <a:latin typeface="Calibri"/>
              </a:rPr>
              <a:t>Feb 2026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41264" y="4663440"/>
            <a:ext cx="6592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👤 3rd Team Member Joins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41264" y="4864608"/>
            <a:ext cx="6592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6A8"/>
                </a:solidFill>
                <a:latin typeface="Calibri"/>
              </a:rPr>
              <a:t>First dedicated hire as demand accelerates</a:t>
            </a:r>
          </a:p>
        </p:txBody>
      </p:sp>
      <p:sp>
        <p:nvSpPr>
          <p:cNvPr id="79" name="Oval 78"/>
          <p:cNvSpPr/>
          <p:nvPr/>
        </p:nvSpPr>
        <p:spPr>
          <a:xfrm>
            <a:off x="5088636" y="5198364"/>
            <a:ext cx="246888" cy="246888"/>
          </a:xfrm>
          <a:prstGeom prst="ellipse">
            <a:avLst/>
          </a:prstGeom>
          <a:solidFill>
            <a:srgbClr val="180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5120640" y="5230368"/>
            <a:ext cx="182880" cy="1828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5449824" y="5166360"/>
            <a:ext cx="6757416" cy="694944"/>
          </a:xfrm>
          <a:prstGeom prst="rect">
            <a:avLst/>
          </a:prstGeom>
          <a:solidFill>
            <a:srgbClr val="1C2634"/>
          </a:solidFill>
          <a:ln w="6350">
            <a:solidFill>
              <a:srgbClr val="28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5449824" y="5166360"/>
            <a:ext cx="45720" cy="69494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541264" y="518464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855F7"/>
                </a:solidFill>
                <a:latin typeface="Calibri"/>
              </a:rPr>
              <a:t>Mar 2026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41264" y="5394960"/>
            <a:ext cx="6592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📣 Hiring for Scale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41264" y="5596128"/>
            <a:ext cx="6592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6A8"/>
                </a:solidFill>
                <a:latin typeface="Calibri"/>
              </a:rPr>
              <a:t>3 open roles to meet incoming client demand</a:t>
            </a:r>
          </a:p>
        </p:txBody>
      </p:sp>
      <p:sp>
        <p:nvSpPr>
          <p:cNvPr id="86" name="Oval 85"/>
          <p:cNvSpPr/>
          <p:nvPr/>
        </p:nvSpPr>
        <p:spPr>
          <a:xfrm>
            <a:off x="5088636" y="5929884"/>
            <a:ext cx="246888" cy="246888"/>
          </a:xfrm>
          <a:prstGeom prst="ellipse">
            <a:avLst/>
          </a:prstGeom>
          <a:solidFill>
            <a:srgbClr val="00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5120640" y="5961888"/>
            <a:ext cx="182880" cy="1828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449824" y="5897880"/>
            <a:ext cx="6757416" cy="694944"/>
          </a:xfrm>
          <a:prstGeom prst="rect">
            <a:avLst/>
          </a:prstGeom>
          <a:solidFill>
            <a:srgbClr val="1C2634"/>
          </a:solidFill>
          <a:ln w="6350">
            <a:solidFill>
              <a:srgbClr val="28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449824" y="5897880"/>
            <a:ext cx="45720" cy="6949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541264" y="591616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6B6D4"/>
                </a:solidFill>
                <a:latin typeface="Calibri"/>
              </a:rPr>
              <a:t>Apr/May 2026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541264" y="6126480"/>
            <a:ext cx="6592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🌐 YHCR Onboards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41264" y="6327648"/>
            <a:ext cx="6592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6A8"/>
                </a:solidFill>
                <a:latin typeface="Calibri"/>
              </a:rPr>
              <a:t>New client extending existing GCP Org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28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6A8"/>
                </a:solidFill>
                <a:latin typeface="Calibri"/>
              </a:rPr>
              <a:t>GCP Engineering  ·  Team Town Hall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183112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6A8"/>
                </a:solidFill>
                <a:latin typeface="Calibri"/>
              </a:rPr>
              <a:t>01 /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56616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238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047238" y="0"/>
            <a:ext cx="3047238" cy="76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4476" y="0"/>
            <a:ext cx="3047238" cy="762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1714" y="0"/>
            <a:ext cx="3047238" cy="76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645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6A8"/>
                </a:solidFill>
                <a:latin typeface="Calibri"/>
              </a:rPr>
              <a:t>GCP Engineering  ·  People  ·  Clients  ·  Milestones  ·  What's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A853"/>
                </a:solidFill>
                <a:latin typeface="Calibri"/>
              </a:rPr>
              <a:t>TEAM GROWTH ARC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758952"/>
            <a:ext cx="5029200" cy="25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502920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285F4"/>
                </a:solidFill>
                <a:latin typeface="Calibri"/>
              </a:rPr>
              <a:t>CLIENT PORTFOLIO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758952"/>
            <a:ext cx="5852160" cy="25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850392"/>
            <a:ext cx="1078992" cy="1591056"/>
          </a:xfrm>
          <a:prstGeom prst="rect">
            <a:avLst/>
          </a:prstGeom>
          <a:solidFill>
            <a:srgbClr val="161E2A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850392"/>
            <a:ext cx="1078992" cy="6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960120"/>
            <a:ext cx="1078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285F4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636776"/>
            <a:ext cx="10789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6A8"/>
                </a:solidFill>
                <a:latin typeface="Calibri"/>
              </a:rPr>
              <a:t>people
Jul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1399032"/>
            <a:ext cx="146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A853"/>
                </a:solidFill>
                <a:latin typeface="Calibr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72768" y="850392"/>
            <a:ext cx="1078992" cy="1591056"/>
          </a:xfrm>
          <a:prstGeom prst="rect">
            <a:avLst/>
          </a:prstGeom>
          <a:solidFill>
            <a:srgbClr val="161E2A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572768" y="850392"/>
            <a:ext cx="1078992" cy="635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72768" y="960120"/>
            <a:ext cx="1078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4A853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1636776"/>
            <a:ext cx="10789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6A8"/>
                </a:solidFill>
                <a:latin typeface="Calibri"/>
              </a:rPr>
              <a:t>streams
shared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1399032"/>
            <a:ext cx="146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A853"/>
                </a:solidFill>
                <a:latin typeface="Calibri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79776" y="850392"/>
            <a:ext cx="1078992" cy="1591056"/>
          </a:xfrm>
          <a:prstGeom prst="rect">
            <a:avLst/>
          </a:prstGeom>
          <a:solidFill>
            <a:srgbClr val="161E2A"/>
          </a:solidFill>
          <a:ln w="127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79776" y="850392"/>
            <a:ext cx="1078992" cy="635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79776" y="960120"/>
            <a:ext cx="1078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BBC04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9776" y="1636776"/>
            <a:ext cx="10789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6A8"/>
                </a:solidFill>
                <a:latin typeface="Calibri"/>
              </a:rPr>
              <a:t>members
Feb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1399032"/>
            <a:ext cx="146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A853"/>
                </a:solidFill>
                <a:latin typeface="Calibri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86784" y="850392"/>
            <a:ext cx="1078992" cy="1591056"/>
          </a:xfrm>
          <a:prstGeom prst="rect">
            <a:avLst/>
          </a:prstGeom>
          <a:solidFill>
            <a:srgbClr val="161E2A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986784" y="850392"/>
            <a:ext cx="1078992" cy="635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86784" y="960120"/>
            <a:ext cx="1078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A4335"/>
                </a:solidFill>
                <a:latin typeface="Calibri"/>
              </a:rPr>
              <a:t>5+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86784" y="1636776"/>
            <a:ext cx="10789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96A8"/>
                </a:solidFill>
                <a:latin typeface="Calibri"/>
              </a:rPr>
              <a:t>target
2026+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850392"/>
            <a:ext cx="2743200" cy="749808"/>
          </a:xfrm>
          <a:prstGeom prst="rect">
            <a:avLst/>
          </a:prstGeom>
          <a:solidFill>
            <a:srgbClr val="161E2A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850392"/>
            <a:ext cx="50292" cy="7498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27648" y="8961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West Brom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125272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6A8"/>
                </a:solidFill>
                <a:latin typeface="Calibri"/>
              </a:rPr>
              <a:t>Nov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9144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34A853"/>
                </a:solidFill>
                <a:latin typeface="Calibri"/>
              </a:rPr>
              <a:t>● Active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1252728"/>
            <a:ext cx="2578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6A8"/>
                </a:solidFill>
                <a:latin typeface="Calibri"/>
              </a:rPr>
              <a:t>Storage Transfer Service — AWS→GCP backup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62288" y="850392"/>
            <a:ext cx="2743200" cy="749808"/>
          </a:xfrm>
          <a:prstGeom prst="rect">
            <a:avLst/>
          </a:prstGeom>
          <a:solidFill>
            <a:srgbClr val="161E2A"/>
          </a:solidFill>
          <a:ln w="101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162288" y="850392"/>
            <a:ext cx="50292" cy="7498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72016" y="8961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GC Resell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72016" y="125272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6A8"/>
                </a:solidFill>
                <a:latin typeface="Calibri"/>
              </a:rPr>
              <a:t>Jan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99648" y="9144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4285F4"/>
                </a:solidFill>
                <a:latin typeface="Calibri"/>
              </a:rPr>
              <a:t>● Live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72016" y="1252728"/>
            <a:ext cx="2578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6A8"/>
                </a:solidFill>
                <a:latin typeface="Calibri"/>
              </a:rPr>
              <a:t>Vending pipeline live in production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1709928"/>
            <a:ext cx="2743200" cy="749808"/>
          </a:xfrm>
          <a:prstGeom prst="rect">
            <a:avLst/>
          </a:prstGeom>
          <a:solidFill>
            <a:srgbClr val="161E2A"/>
          </a:solidFill>
          <a:ln w="1016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217920" y="1709928"/>
            <a:ext cx="50292" cy="74980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27648" y="17556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Alpha Commerce
+PairD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21122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6A8"/>
                </a:solidFill>
                <a:latin typeface="Calibri"/>
              </a:rPr>
              <a:t>Aug 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0" y="177393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FBBC04"/>
                </a:solidFill>
                <a:latin typeface="Calibri"/>
              </a:rPr>
              <a:t>● Internal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7648" y="2112264"/>
            <a:ext cx="2578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6A8"/>
                </a:solidFill>
                <a:latin typeface="Calibri"/>
              </a:rPr>
              <a:t>Billing exports &amp; ops support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62288" y="1709928"/>
            <a:ext cx="2743200" cy="749808"/>
          </a:xfrm>
          <a:prstGeom prst="rect">
            <a:avLst/>
          </a:prstGeom>
          <a:solidFill>
            <a:srgbClr val="161E2A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162288" y="1709928"/>
            <a:ext cx="50292" cy="7498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272016" y="17556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YHCR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72016" y="21122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6A8"/>
                </a:solidFill>
                <a:latin typeface="Calibri"/>
              </a:rPr>
              <a:t>Apr/May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99648" y="177393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6B6D4"/>
                </a:solidFill>
                <a:latin typeface="Calibri"/>
              </a:rPr>
              <a:t>◐ Incoming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72016" y="2112264"/>
            <a:ext cx="2578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6A8"/>
                </a:solidFill>
                <a:latin typeface="Calibri"/>
              </a:rPr>
              <a:t>Extending existing GCP Org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0" y="502920"/>
            <a:ext cx="12700" cy="2029968"/>
          </a:xfrm>
          <a:prstGeom prst="rect">
            <a:avLst/>
          </a:prstGeom>
          <a:solidFill>
            <a:srgbClr val="28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65760" y="2639060"/>
            <a:ext cx="11457432" cy="12700"/>
          </a:xfrm>
          <a:prstGeom prst="rect">
            <a:avLst/>
          </a:prstGeom>
          <a:solidFill>
            <a:srgbClr val="28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5760" y="270662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6A8"/>
                </a:solidFill>
                <a:latin typeface="Calibri"/>
              </a:rPr>
              <a:t>KEY MILESTONES — Jun 2025 to May 2026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2980944"/>
            <a:ext cx="1499616" cy="87782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" y="3035808"/>
            <a:ext cx="1499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3474720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Transition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65376" y="3407156"/>
            <a:ext cx="137160" cy="25400"/>
          </a:xfrm>
          <a:prstGeom prst="rect">
            <a:avLst/>
          </a:prstGeom>
          <a:solidFill>
            <a:srgbClr val="3A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002536" y="2980944"/>
            <a:ext cx="1499616" cy="87782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002536" y="3035808"/>
            <a:ext cx="1499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🏗️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02536" y="3474720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02152" y="3407156"/>
            <a:ext cx="137160" cy="25400"/>
          </a:xfrm>
          <a:prstGeom prst="rect">
            <a:avLst/>
          </a:prstGeom>
          <a:solidFill>
            <a:srgbClr val="3A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639312" y="2980944"/>
            <a:ext cx="1499616" cy="87782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639312" y="3035808"/>
            <a:ext cx="1499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39312" y="3474720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West Brom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38928" y="3407156"/>
            <a:ext cx="137160" cy="25400"/>
          </a:xfrm>
          <a:prstGeom prst="rect">
            <a:avLst/>
          </a:prstGeom>
          <a:solidFill>
            <a:srgbClr val="3A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276088" y="2980944"/>
            <a:ext cx="1499616" cy="87782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276088" y="3035808"/>
            <a:ext cx="1499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🧪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76088" y="3474720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75704" y="3407156"/>
            <a:ext cx="137160" cy="25400"/>
          </a:xfrm>
          <a:prstGeom prst="rect">
            <a:avLst/>
          </a:prstGeom>
          <a:solidFill>
            <a:srgbClr val="3A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912864" y="2980944"/>
            <a:ext cx="1499616" cy="87782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912864" y="3035808"/>
            <a:ext cx="1499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12864" y="3474720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3rd Hire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12480" y="3407156"/>
            <a:ext cx="137160" cy="25400"/>
          </a:xfrm>
          <a:prstGeom prst="rect">
            <a:avLst/>
          </a:prstGeom>
          <a:solidFill>
            <a:srgbClr val="3A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549640" y="2980944"/>
            <a:ext cx="1499616" cy="87782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549640" y="3035808"/>
            <a:ext cx="1499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📣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49640" y="3474720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 Roles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049256" y="3407156"/>
            <a:ext cx="137160" cy="25400"/>
          </a:xfrm>
          <a:prstGeom prst="rect">
            <a:avLst/>
          </a:prstGeom>
          <a:solidFill>
            <a:srgbClr val="3A4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186416" y="2980944"/>
            <a:ext cx="1499616" cy="87782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186416" y="3035808"/>
            <a:ext cx="1499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86416" y="3474720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YHCR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5760" y="3699763"/>
            <a:ext cx="11457432" cy="12700"/>
          </a:xfrm>
          <a:prstGeom prst="rect">
            <a:avLst/>
          </a:prstGeom>
          <a:solidFill>
            <a:srgbClr val="28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65760" y="3749039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6A8"/>
                </a:solidFill>
                <a:latin typeface="Calibri"/>
              </a:rPr>
              <a:t>WHAT'S NEXT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4023359"/>
            <a:ext cx="3840480" cy="1243584"/>
          </a:xfrm>
          <a:prstGeom prst="rect">
            <a:avLst/>
          </a:prstGeom>
          <a:solidFill>
            <a:srgbClr val="1C2634"/>
          </a:solidFill>
          <a:ln w="9525">
            <a:solidFill>
              <a:srgbClr val="28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65760" y="4023359"/>
            <a:ext cx="64008" cy="3108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365760" y="4334255"/>
            <a:ext cx="64008" cy="3108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365760" y="4645151"/>
            <a:ext cx="64008" cy="3108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365760" y="4956047"/>
            <a:ext cx="64008" cy="3108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30352" y="4151375"/>
            <a:ext cx="356616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 Light"/>
              </a:rPr>
              <a:t>The best chapters
are still being
written.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27441" y="4023359"/>
            <a:ext cx="1426464" cy="1243584"/>
          </a:xfrm>
          <a:prstGeom prst="rect">
            <a:avLst/>
          </a:prstGeom>
          <a:solidFill>
            <a:srgbClr val="161E2A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327441" y="4023359"/>
            <a:ext cx="1426464" cy="6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27441" y="4114799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27441" y="4590287"/>
            <a:ext cx="14264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85F4"/>
                </a:solidFill>
                <a:latin typeface="Calibri"/>
              </a:rPr>
              <a:t>Team
Expansion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936785" y="4023359"/>
            <a:ext cx="1426464" cy="1243584"/>
          </a:xfrm>
          <a:prstGeom prst="rect">
            <a:avLst/>
          </a:prstGeom>
          <a:solidFill>
            <a:srgbClr val="161E2A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5936785" y="4023359"/>
            <a:ext cx="1426464" cy="635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936785" y="4114799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36785" y="4590287"/>
            <a:ext cx="14264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4A853"/>
                </a:solidFill>
                <a:latin typeface="Calibri"/>
              </a:rPr>
              <a:t>New
Clients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46129" y="4023359"/>
            <a:ext cx="1426464" cy="1243584"/>
          </a:xfrm>
          <a:prstGeom prst="rect">
            <a:avLst/>
          </a:prstGeom>
          <a:solidFill>
            <a:srgbClr val="161E2A"/>
          </a:solidFill>
          <a:ln w="127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7546129" y="4023359"/>
            <a:ext cx="1426464" cy="635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546129" y="4114799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546129" y="4590287"/>
            <a:ext cx="14264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BBC04"/>
                </a:solidFill>
                <a:latin typeface="Calibri"/>
              </a:rPr>
              <a:t>Automation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155473" y="4023359"/>
            <a:ext cx="1426464" cy="1243584"/>
          </a:xfrm>
          <a:prstGeom prst="rect">
            <a:avLst/>
          </a:prstGeom>
          <a:solidFill>
            <a:srgbClr val="161E2A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9155473" y="4023359"/>
            <a:ext cx="1426464" cy="635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155473" y="4114799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55473" y="4590287"/>
            <a:ext cx="14264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A4335"/>
                </a:solidFill>
                <a:latin typeface="Calibri"/>
              </a:rPr>
              <a:t>Revenue
Growth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764817" y="4023359"/>
            <a:ext cx="1426464" cy="1243584"/>
          </a:xfrm>
          <a:prstGeom prst="rect">
            <a:avLst/>
          </a:prstGeom>
          <a:solidFill>
            <a:srgbClr val="161E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0764817" y="4023359"/>
            <a:ext cx="1426464" cy="635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0764817" y="4114799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☁️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764817" y="4590287"/>
            <a:ext cx="14264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A855F7"/>
                </a:solidFill>
                <a:latin typeface="Calibri"/>
              </a:rPr>
              <a:t>Cloud
Practice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0" y="6832600"/>
            <a:ext cx="12188952" cy="25400"/>
          </a:xfrm>
          <a:prstGeom prst="rect">
            <a:avLst/>
          </a:prstGeom>
          <a:solidFill>
            <a:srgbClr val="28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6576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6A8"/>
                </a:solidFill>
                <a:latin typeface="Calibri"/>
              </a:rPr>
              <a:t>GCP Engineering  ·  Team Town Hall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183112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B96A8"/>
                </a:solidFill>
                <a:latin typeface="Calibri"/>
              </a:rPr>
              <a:t>02 /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339</Words>
  <Application>Microsoft Macintosh PowerPoint</Application>
  <PresentationFormat>Custom</PresentationFormat>
  <Paragraphs>99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Karthik Sankaran</cp:lastModifiedBy>
  <cp:revision>2</cp:revision>
  <dcterms:created xsi:type="dcterms:W3CDTF">2013-01-27T09:14:16Z</dcterms:created>
  <dcterms:modified xsi:type="dcterms:W3CDTF">2026-04-30T17:35:44Z</dcterms:modified>
  <cp:category/>
</cp:coreProperties>
</file>