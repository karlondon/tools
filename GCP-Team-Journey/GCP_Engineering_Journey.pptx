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91055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21408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82111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12463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2816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73168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33872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3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94575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24927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85632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46336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76688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07040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37392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67744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198096" y="0"/>
            <a:ext cx="10160" cy="685800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30352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1060704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1591055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2121408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2651760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3182111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712463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242816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773168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303520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833872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364223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894575"/>
            <a:ext cx="12188952" cy="10160"/>
          </a:xfrm>
          <a:prstGeom prst="rect">
            <a:avLst/>
          </a:prstGeom>
          <a:solidFill>
            <a:srgbClr val="13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1645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786616" y="16459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2926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786616" y="29260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1188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486078"/>
                </a:solidFill>
                <a:latin typeface="Calibri"/>
              </a:rPr>
              <a:t>GCP ENGINEERING</a:t>
            </a:r>
          </a:p>
        </p:txBody>
      </p:sp>
      <p:sp>
        <p:nvSpPr>
          <p:cNvPr id="44" name="Oval 43"/>
          <p:cNvSpPr/>
          <p:nvPr/>
        </p:nvSpPr>
        <p:spPr>
          <a:xfrm>
            <a:off x="8778240" y="-2743200"/>
            <a:ext cx="4389120" cy="43891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86800" y="-457200"/>
            <a:ext cx="2743200" cy="27432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64240" y="731520"/>
            <a:ext cx="1828800" cy="18288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78240" y="1188720"/>
            <a:ext cx="1280160" cy="128016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100584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285F4"/>
                </a:solidFill>
                <a:latin typeface="Calibri"/>
              </a:rPr>
              <a:t>CMS  -  GCP ENGINEERING PRACTICE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13716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From Zero to</a:t>
            </a:r>
          </a:p>
          <a:p>
            <a:pPr algn="l">
              <a:spcBef>
                <a:spcPts val="400"/>
              </a:spcBef>
            </a:pPr>
            <a:r>
              <a:rPr sz="5200" b="1">
                <a:solidFill>
                  <a:srgbClr val="4285F4"/>
                </a:solidFill>
                <a:latin typeface="Calibri"/>
              </a:rPr>
              <a:t>Full Orbit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2918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AB0"/>
                </a:solidFill>
                <a:latin typeface="Calibri"/>
              </a:rPr>
              <a:t>The story of a GCP Engineering team that took over from nothing, built the foundations, delivered for clients, and is now a growing practice.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114800"/>
            <a:ext cx="3383280" cy="347472"/>
          </a:xfrm>
          <a:prstGeom prst="rect">
            <a:avLst/>
          </a:prstGeom>
          <a:solidFill>
            <a:srgbClr val="0D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4114800"/>
            <a:ext cx="3383280" cy="347472"/>
          </a:xfrm>
          <a:prstGeom prst="rect">
            <a:avLst/>
          </a:prstGeom>
          <a:noFill/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133087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85F4"/>
                </a:solidFill>
                <a:latin typeface="Calibri"/>
              </a:rPr>
              <a:t>  Launched Jun 2025  -  Growing  -  Ongoing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663440"/>
            <a:ext cx="2514600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663440"/>
            <a:ext cx="2514600" cy="1234440"/>
          </a:xfrm>
          <a:prstGeom prst="rect">
            <a:avLst/>
          </a:prstGeom>
          <a:noFill/>
          <a:ln w="9525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4663440"/>
            <a:ext cx="25146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73659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285F4"/>
                </a:solidFill>
                <a:latin typeface="Calibri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394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486078"/>
                </a:solidFill>
                <a:latin typeface="Calibri"/>
              </a:rPr>
              <a:t>MONTHS ACTIVE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18688" y="4663440"/>
            <a:ext cx="2514600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18688" y="4663440"/>
            <a:ext cx="2514600" cy="1234440"/>
          </a:xfrm>
          <a:prstGeom prst="rect">
            <a:avLst/>
          </a:prstGeom>
          <a:noFill/>
          <a:ln w="9525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18688" y="4663440"/>
            <a:ext cx="2514600" cy="381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18688" y="473659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4A853"/>
                </a:solidFill>
                <a:latin typeface="Calibri"/>
              </a:rPr>
              <a:t>2+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18688" y="5394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486078"/>
                </a:solidFill>
                <a:latin typeface="Calibri"/>
              </a:rPr>
              <a:t>TEAM MEMBERS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34456" y="4663440"/>
            <a:ext cx="2514600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34456" y="4663440"/>
            <a:ext cx="2514600" cy="1234440"/>
          </a:xfrm>
          <a:prstGeom prst="rect">
            <a:avLst/>
          </a:prstGeom>
          <a:noFill/>
          <a:ln w="9525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34456" y="4663440"/>
            <a:ext cx="2514600" cy="381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34456" y="473659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BC04"/>
                </a:solidFill>
                <a:latin typeface="Calibri"/>
              </a:rPr>
              <a:t>4+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34456" y="5394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486078"/>
                </a:solidFill>
                <a:latin typeface="Calibri"/>
              </a:rPr>
              <a:t>CLIENTS SERVED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50224" y="4663440"/>
            <a:ext cx="2514600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650224" y="4663440"/>
            <a:ext cx="2514600" cy="1234440"/>
          </a:xfrm>
          <a:prstGeom prst="rect">
            <a:avLst/>
          </a:prstGeom>
          <a:noFill/>
          <a:ln w="9525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650224" y="4663440"/>
            <a:ext cx="2514600" cy="381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50224" y="473659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A4335"/>
                </a:solidFill>
                <a:latin typeface="Calibri"/>
              </a:rPr>
              <a:t>1st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50224" y="5394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486078"/>
                </a:solidFill>
                <a:latin typeface="Calibri"/>
              </a:rPr>
              <a:t>CHARGEABLE BUILD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6053328"/>
            <a:ext cx="1536192" cy="2377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7784" y="6071616"/>
            <a:ext cx="1463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D1117"/>
                </a:solidFill>
                <a:latin typeface="Calibri"/>
              </a:rPr>
              <a:t>01 TRANSITION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67128" y="6053328"/>
            <a:ext cx="1536192" cy="2377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21992" y="6071616"/>
            <a:ext cx="1463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D1117"/>
                </a:solidFill>
                <a:latin typeface="Calibri"/>
              </a:rPr>
              <a:t>02 FOUNDATION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31336" y="6053328"/>
            <a:ext cx="1536192" cy="2377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86200" y="6071616"/>
            <a:ext cx="1463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D1117"/>
                </a:solidFill>
                <a:latin typeface="Calibri"/>
              </a:rPr>
              <a:t>03 BUILD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95544" y="6053328"/>
            <a:ext cx="1536192" cy="2377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50408" y="6071616"/>
            <a:ext cx="1463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D1117"/>
                </a:solidFill>
                <a:latin typeface="Calibri"/>
              </a:rPr>
              <a:t>04 FIRST WIN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59752" y="6053328"/>
            <a:ext cx="1536192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14616" y="6071616"/>
            <a:ext cx="1463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D1117"/>
                </a:solidFill>
                <a:latin typeface="Calibri"/>
              </a:rPr>
              <a:t>05 VALIDATION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23960" y="6053328"/>
            <a:ext cx="1536192" cy="23774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78824" y="6071616"/>
            <a:ext cx="1463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D1117"/>
                </a:solidFill>
                <a:latin typeface="Calibri"/>
              </a:rPr>
              <a:t>06 GROWTH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488168" y="6053328"/>
            <a:ext cx="1536192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43032" y="6071616"/>
            <a:ext cx="1463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D1117"/>
                </a:solidFill>
                <a:latin typeface="Calibri"/>
              </a:rPr>
              <a:t>07 NEW CLIENT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6364224"/>
            <a:ext cx="10360152" cy="25400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50392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Jun 25</a:t>
            </a:r>
          </a:p>
        </p:txBody>
      </p:sp>
      <p:sp>
        <p:nvSpPr>
          <p:cNvPr id="91" name="Oval 90"/>
          <p:cNvSpPr/>
          <p:nvPr/>
        </p:nvSpPr>
        <p:spPr>
          <a:xfrm>
            <a:off x="2577084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8389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Jul 25</a:t>
            </a:r>
          </a:p>
        </p:txBody>
      </p:sp>
      <p:sp>
        <p:nvSpPr>
          <p:cNvPr id="93" name="Oval 92"/>
          <p:cNvSpPr/>
          <p:nvPr/>
        </p:nvSpPr>
        <p:spPr>
          <a:xfrm>
            <a:off x="4303776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10584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Aug 25</a:t>
            </a:r>
          </a:p>
        </p:txBody>
      </p:sp>
      <p:sp>
        <p:nvSpPr>
          <p:cNvPr id="95" name="Oval 94"/>
          <p:cNvSpPr/>
          <p:nvPr/>
        </p:nvSpPr>
        <p:spPr>
          <a:xfrm>
            <a:off x="6030468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637276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Nov 25</a:t>
            </a:r>
          </a:p>
        </p:txBody>
      </p:sp>
      <p:sp>
        <p:nvSpPr>
          <p:cNvPr id="97" name="Oval 96"/>
          <p:cNvSpPr/>
          <p:nvPr/>
        </p:nvSpPr>
        <p:spPr>
          <a:xfrm>
            <a:off x="7757160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63968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Jan 26</a:t>
            </a:r>
          </a:p>
        </p:txBody>
      </p:sp>
      <p:sp>
        <p:nvSpPr>
          <p:cNvPr id="99" name="Oval 98"/>
          <p:cNvSpPr/>
          <p:nvPr/>
        </p:nvSpPr>
        <p:spPr>
          <a:xfrm>
            <a:off x="9483852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9066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Mar 26</a:t>
            </a:r>
          </a:p>
        </p:txBody>
      </p:sp>
      <p:sp>
        <p:nvSpPr>
          <p:cNvPr id="101" name="Oval 100"/>
          <p:cNvSpPr/>
          <p:nvPr/>
        </p:nvSpPr>
        <p:spPr>
          <a:xfrm>
            <a:off x="11210544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81735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Apr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8600" y="1645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86616" y="16459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58600" y="2926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86616" y="29260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188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486078"/>
                </a:solidFill>
                <a:latin typeface="Calibri"/>
              </a:rPr>
              <a:t>GCP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20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22080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A4335"/>
                </a:solidFill>
                <a:latin typeface="Calibri"/>
              </a:rPr>
              <a:t>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JUN - JUL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292608"/>
            <a:ext cx="2011680" cy="2377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"/>
            <a:ext cx="19385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117"/>
                </a:solidFill>
                <a:latin typeface="Calibri"/>
              </a:rPr>
              <a:t> PHASE  01  -  TRANSITION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658368"/>
            <a:ext cx="8494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Taking the Baton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572768"/>
            <a:ext cx="8494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AB0"/>
                </a:solidFill>
                <a:latin typeface="Calibri"/>
              </a:rPr>
              <a:t>A seamless handover -- GCP Engineering steps up and takes full ownership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176272"/>
            <a:ext cx="8494776" cy="127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3008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3008" y="2304288"/>
            <a:ext cx="2740152" cy="4445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Service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Zero disruption to ongoing operations during the handover period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320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0320" y="2304288"/>
            <a:ext cx="2740152" cy="4445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480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Knowledge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Full documentation and process capture from Day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7632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7632" y="2304288"/>
            <a:ext cx="2740152" cy="4445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4792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Full Ownership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4792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GCP Engineering assumes complete accountability for the 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279392"/>
            <a:ext cx="8494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A4335"/>
                </a:solidFill>
                <a:latin typeface="Calibri"/>
              </a:rPr>
              <a:t>  The clock starts -- GCP Engineering owns it from this moment 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364224"/>
            <a:ext cx="10360152" cy="25400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5528" y="6258052"/>
            <a:ext cx="237744" cy="23774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2376" y="6184900"/>
            <a:ext cx="384048" cy="384048"/>
          </a:xfrm>
          <a:prstGeom prst="ellipse">
            <a:avLst/>
          </a:prstGeom>
          <a:noFill/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A4335"/>
                </a:solidFill>
                <a:latin typeface="Calibri"/>
              </a:rPr>
              <a:t>Jun 25</a:t>
            </a:r>
          </a:p>
        </p:txBody>
      </p:sp>
      <p:sp>
        <p:nvSpPr>
          <p:cNvPr id="35" name="Oval 34"/>
          <p:cNvSpPr/>
          <p:nvPr/>
        </p:nvSpPr>
        <p:spPr>
          <a:xfrm>
            <a:off x="2577084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8389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Jul 25</a:t>
            </a:r>
          </a:p>
        </p:txBody>
      </p:sp>
      <p:sp>
        <p:nvSpPr>
          <p:cNvPr id="37" name="Oval 36"/>
          <p:cNvSpPr/>
          <p:nvPr/>
        </p:nvSpPr>
        <p:spPr>
          <a:xfrm>
            <a:off x="4303776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10584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Aug 25</a:t>
            </a:r>
          </a:p>
        </p:txBody>
      </p:sp>
      <p:sp>
        <p:nvSpPr>
          <p:cNvPr id="39" name="Oval 38"/>
          <p:cNvSpPr/>
          <p:nvPr/>
        </p:nvSpPr>
        <p:spPr>
          <a:xfrm>
            <a:off x="6030468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7276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Nov 25</a:t>
            </a:r>
          </a:p>
        </p:txBody>
      </p:sp>
      <p:sp>
        <p:nvSpPr>
          <p:cNvPr id="41" name="Oval 40"/>
          <p:cNvSpPr/>
          <p:nvPr/>
        </p:nvSpPr>
        <p:spPr>
          <a:xfrm>
            <a:off x="7757160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3968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Jan 26</a:t>
            </a:r>
          </a:p>
        </p:txBody>
      </p:sp>
      <p:sp>
        <p:nvSpPr>
          <p:cNvPr id="43" name="Oval 42"/>
          <p:cNvSpPr/>
          <p:nvPr/>
        </p:nvSpPr>
        <p:spPr>
          <a:xfrm>
            <a:off x="9483852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066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Mar 26</a:t>
            </a:r>
          </a:p>
        </p:txBody>
      </p:sp>
      <p:sp>
        <p:nvSpPr>
          <p:cNvPr id="45" name="Oval 44"/>
          <p:cNvSpPr/>
          <p:nvPr/>
        </p:nvSpPr>
        <p:spPr>
          <a:xfrm>
            <a:off x="11210544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1735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Apr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8600" y="1645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86616" y="16459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58600" y="2926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86616" y="29260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188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486078"/>
                </a:solidFill>
                <a:latin typeface="Calibri"/>
              </a:rPr>
              <a:t>GCP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8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08122C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JULY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292608"/>
            <a:ext cx="2011680" cy="2377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"/>
            <a:ext cx="19385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117"/>
                </a:solidFill>
                <a:latin typeface="Calibri"/>
              </a:rPr>
              <a:t> PHASE  02  - 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658368"/>
            <a:ext cx="8494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Two Pioneers, One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572768"/>
            <a:ext cx="8494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AB0"/>
                </a:solidFill>
                <a:latin typeface="Calibri"/>
              </a:rPr>
              <a:t>A small but mighty team -- both resources shared across 2 parallel work streams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176272"/>
            <a:ext cx="8494776" cy="127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3008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3008" y="2304288"/>
            <a:ext cx="2740152" cy="444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Sr.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Strategic leadership, direction and client relationships from day 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320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0320" y="2304288"/>
            <a:ext cx="2740152" cy="444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480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Consultant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Hands-on GCP engineering and end-to-end technical delivery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7632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7632" y="2304288"/>
            <a:ext cx="2740152" cy="4445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4792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2 Work Streams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4792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Shared resource model maximising coverage from the very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279392"/>
            <a:ext cx="8494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285F4"/>
                </a:solidFill>
                <a:latin typeface="Calibri"/>
              </a:rPr>
              <a:t>  Establishing processes -- Learning the landscape -- Laying the groundwork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364224"/>
            <a:ext cx="10360152" cy="25400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" y="6294628"/>
            <a:ext cx="164592" cy="16459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A4335"/>
                </a:solidFill>
                <a:latin typeface="Calibri"/>
              </a:rPr>
              <a:t>Jun 25</a:t>
            </a:r>
          </a:p>
        </p:txBody>
      </p:sp>
      <p:sp>
        <p:nvSpPr>
          <p:cNvPr id="34" name="Oval 33"/>
          <p:cNvSpPr/>
          <p:nvPr/>
        </p:nvSpPr>
        <p:spPr>
          <a:xfrm>
            <a:off x="2522220" y="6258052"/>
            <a:ext cx="237744" cy="23774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49068" y="6184900"/>
            <a:ext cx="384048" cy="384048"/>
          </a:xfrm>
          <a:prstGeom prst="ellipse">
            <a:avLst/>
          </a:prstGeom>
          <a:noFill/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8389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285F4"/>
                </a:solidFill>
                <a:latin typeface="Calibri"/>
              </a:rPr>
              <a:t>Jul 25</a:t>
            </a:r>
          </a:p>
        </p:txBody>
      </p:sp>
      <p:sp>
        <p:nvSpPr>
          <p:cNvPr id="37" name="Oval 36"/>
          <p:cNvSpPr/>
          <p:nvPr/>
        </p:nvSpPr>
        <p:spPr>
          <a:xfrm>
            <a:off x="4303776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10584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Aug 25</a:t>
            </a:r>
          </a:p>
        </p:txBody>
      </p:sp>
      <p:sp>
        <p:nvSpPr>
          <p:cNvPr id="39" name="Oval 38"/>
          <p:cNvSpPr/>
          <p:nvPr/>
        </p:nvSpPr>
        <p:spPr>
          <a:xfrm>
            <a:off x="6030468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7276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Nov 25</a:t>
            </a:r>
          </a:p>
        </p:txBody>
      </p:sp>
      <p:sp>
        <p:nvSpPr>
          <p:cNvPr id="41" name="Oval 40"/>
          <p:cNvSpPr/>
          <p:nvPr/>
        </p:nvSpPr>
        <p:spPr>
          <a:xfrm>
            <a:off x="7757160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3968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Jan 26</a:t>
            </a:r>
          </a:p>
        </p:txBody>
      </p:sp>
      <p:sp>
        <p:nvSpPr>
          <p:cNvPr id="43" name="Oval 42"/>
          <p:cNvSpPr/>
          <p:nvPr/>
        </p:nvSpPr>
        <p:spPr>
          <a:xfrm>
            <a:off x="9483852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066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Mar 26</a:t>
            </a:r>
          </a:p>
        </p:txBody>
      </p:sp>
      <p:sp>
        <p:nvSpPr>
          <p:cNvPr id="45" name="Oval 44"/>
          <p:cNvSpPr/>
          <p:nvPr/>
        </p:nvSpPr>
        <p:spPr>
          <a:xfrm>
            <a:off x="11210544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1735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Apr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8600" y="1645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86616" y="16459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58600" y="2926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86616" y="29260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188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486078"/>
                </a:solidFill>
                <a:latin typeface="Calibri"/>
              </a:rPr>
              <a:t>GCP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6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061E0E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A853"/>
                </a:solidFill>
                <a:latin typeface="Calibri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AUG - NOV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292608"/>
            <a:ext cx="2011680" cy="2377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"/>
            <a:ext cx="19385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117"/>
                </a:solidFill>
                <a:latin typeface="Calibri"/>
              </a:rPr>
              <a:t> PHASE  03  - 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658368"/>
            <a:ext cx="8494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Laying the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572768"/>
            <a:ext cx="8494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AB0"/>
                </a:solidFill>
                <a:latin typeface="Calibri"/>
              </a:rPr>
              <a:t>Infrastructure built, internal clients supported, delivery model proven in 3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176272"/>
            <a:ext cx="8494776" cy="127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3008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3008" y="2304288"/>
            <a:ext cx="2740152" cy="4445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GCP Vending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Automated project provisioning -- scoped, built, live by Nov 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320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0320" y="2304288"/>
            <a:ext cx="2740152" cy="4445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480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Alpha Commerce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Internal client support picked up alongside build 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7632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7632" y="2304288"/>
            <a:ext cx="2740152" cy="4445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4792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PairD Billing Exports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4792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Billing export pipeline infrastructure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279392"/>
            <a:ext cx="8494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4A853"/>
                </a:solidFill>
                <a:latin typeface="Calibri"/>
              </a:rPr>
              <a:t>  3 months - From zero to production-ready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364224"/>
            <a:ext cx="10360152" cy="25400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" y="6294628"/>
            <a:ext cx="164592" cy="16459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A4335"/>
                </a:solidFill>
                <a:latin typeface="Calibri"/>
              </a:rPr>
              <a:t>Jun 25</a:t>
            </a:r>
          </a:p>
        </p:txBody>
      </p:sp>
      <p:sp>
        <p:nvSpPr>
          <p:cNvPr id="34" name="Oval 33"/>
          <p:cNvSpPr/>
          <p:nvPr/>
        </p:nvSpPr>
        <p:spPr>
          <a:xfrm>
            <a:off x="2558796" y="6294628"/>
            <a:ext cx="164592" cy="16459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8389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285F4"/>
                </a:solidFill>
                <a:latin typeface="Calibri"/>
              </a:rPr>
              <a:t>Jul 25</a:t>
            </a:r>
          </a:p>
        </p:txBody>
      </p:sp>
      <p:sp>
        <p:nvSpPr>
          <p:cNvPr id="36" name="Oval 35"/>
          <p:cNvSpPr/>
          <p:nvPr/>
        </p:nvSpPr>
        <p:spPr>
          <a:xfrm>
            <a:off x="4248912" y="6258052"/>
            <a:ext cx="237744" cy="23774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75760" y="6184900"/>
            <a:ext cx="384048" cy="384048"/>
          </a:xfrm>
          <a:prstGeom prst="ellipse">
            <a:avLst/>
          </a:prstGeom>
          <a:noFill/>
          <a:ln w="152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10584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4A853"/>
                </a:solidFill>
                <a:latin typeface="Calibri"/>
              </a:rPr>
              <a:t>Aug 25</a:t>
            </a:r>
          </a:p>
        </p:txBody>
      </p:sp>
      <p:sp>
        <p:nvSpPr>
          <p:cNvPr id="39" name="Oval 38"/>
          <p:cNvSpPr/>
          <p:nvPr/>
        </p:nvSpPr>
        <p:spPr>
          <a:xfrm>
            <a:off x="6030468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7276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Nov 25</a:t>
            </a:r>
          </a:p>
        </p:txBody>
      </p:sp>
      <p:sp>
        <p:nvSpPr>
          <p:cNvPr id="41" name="Oval 40"/>
          <p:cNvSpPr/>
          <p:nvPr/>
        </p:nvSpPr>
        <p:spPr>
          <a:xfrm>
            <a:off x="7757160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3968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Jan 26</a:t>
            </a:r>
          </a:p>
        </p:txBody>
      </p:sp>
      <p:sp>
        <p:nvSpPr>
          <p:cNvPr id="43" name="Oval 42"/>
          <p:cNvSpPr/>
          <p:nvPr/>
        </p:nvSpPr>
        <p:spPr>
          <a:xfrm>
            <a:off x="9483852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066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Mar 26</a:t>
            </a:r>
          </a:p>
        </p:txBody>
      </p:sp>
      <p:sp>
        <p:nvSpPr>
          <p:cNvPr id="45" name="Oval 44"/>
          <p:cNvSpPr/>
          <p:nvPr/>
        </p:nvSpPr>
        <p:spPr>
          <a:xfrm>
            <a:off x="11210544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1735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Apr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8600" y="1645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86616" y="16459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58600" y="2926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86616" y="29260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188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486078"/>
                </a:solidFill>
                <a:latin typeface="Calibri"/>
              </a:rPr>
              <a:t>GCP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A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2A1E00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BBC04"/>
                </a:solidFill>
                <a:latin typeface="Calibri"/>
              </a:rPr>
              <a:t>FIRST 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15 NOV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292608"/>
            <a:ext cx="2011680" cy="2377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"/>
            <a:ext cx="19385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117"/>
                </a:solidFill>
                <a:latin typeface="Calibri"/>
              </a:rPr>
              <a:t> PHASE  04  -  FIRST 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658368"/>
            <a:ext cx="8494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First Chargeable 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572768"/>
            <a:ext cx="8494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AB0"/>
                </a:solidFill>
                <a:latin typeface="Calibri"/>
              </a:rPr>
              <a:t>West Brom -- the team's first revenue-generating engagement. Relationship continues today.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176272"/>
            <a:ext cx="8494776" cy="127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3008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3008" y="2304288"/>
            <a:ext cx="2740152" cy="4445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West Brom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First external chargeable project -- an ongoing engagement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320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0320" y="2304288"/>
            <a:ext cx="2740152" cy="4445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480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Storage Transfer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GCP backs up data from applications hosted in AWS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7632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7632" y="2304288"/>
            <a:ext cx="2740152" cy="4445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4792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4"/>
                </a:solidFill>
                <a:latin typeface="Calibri"/>
              </a:rPr>
              <a:t>Ongoing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4792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Engineer continues delivering new build tasks for the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279392"/>
            <a:ext cx="8494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BBC04"/>
                </a:solidFill>
                <a:latin typeface="Calibri"/>
              </a:rPr>
              <a:t>  REVENUE GENERATING -- Cross-cloud architecture -- AWS to GCP backup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364224"/>
            <a:ext cx="10360152" cy="25400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" y="6294628"/>
            <a:ext cx="164592" cy="16459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A4335"/>
                </a:solidFill>
                <a:latin typeface="Calibri"/>
              </a:rPr>
              <a:t>Jun 25</a:t>
            </a:r>
          </a:p>
        </p:txBody>
      </p:sp>
      <p:sp>
        <p:nvSpPr>
          <p:cNvPr id="34" name="Oval 33"/>
          <p:cNvSpPr/>
          <p:nvPr/>
        </p:nvSpPr>
        <p:spPr>
          <a:xfrm>
            <a:off x="2558796" y="6294628"/>
            <a:ext cx="164592" cy="16459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8389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285F4"/>
                </a:solidFill>
                <a:latin typeface="Calibri"/>
              </a:rPr>
              <a:t>Jul 25</a:t>
            </a:r>
          </a:p>
        </p:txBody>
      </p:sp>
      <p:sp>
        <p:nvSpPr>
          <p:cNvPr id="36" name="Oval 35"/>
          <p:cNvSpPr/>
          <p:nvPr/>
        </p:nvSpPr>
        <p:spPr>
          <a:xfrm>
            <a:off x="4285488" y="6294628"/>
            <a:ext cx="164592" cy="16459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0584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4A853"/>
                </a:solidFill>
                <a:latin typeface="Calibri"/>
              </a:rPr>
              <a:t>Aug 25</a:t>
            </a:r>
          </a:p>
        </p:txBody>
      </p:sp>
      <p:sp>
        <p:nvSpPr>
          <p:cNvPr id="38" name="Oval 37"/>
          <p:cNvSpPr/>
          <p:nvPr/>
        </p:nvSpPr>
        <p:spPr>
          <a:xfrm>
            <a:off x="5975604" y="6258052"/>
            <a:ext cx="237744" cy="237744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902452" y="6184900"/>
            <a:ext cx="384048" cy="384048"/>
          </a:xfrm>
          <a:prstGeom prst="ellipse">
            <a:avLst/>
          </a:prstGeom>
          <a:noFill/>
          <a:ln w="152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7276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BBC04"/>
                </a:solidFill>
                <a:latin typeface="Calibri"/>
              </a:rPr>
              <a:t>Nov 25</a:t>
            </a:r>
          </a:p>
        </p:txBody>
      </p:sp>
      <p:sp>
        <p:nvSpPr>
          <p:cNvPr id="41" name="Oval 40"/>
          <p:cNvSpPr/>
          <p:nvPr/>
        </p:nvSpPr>
        <p:spPr>
          <a:xfrm>
            <a:off x="7757160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3968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Jan 26</a:t>
            </a:r>
          </a:p>
        </p:txBody>
      </p:sp>
      <p:sp>
        <p:nvSpPr>
          <p:cNvPr id="43" name="Oval 42"/>
          <p:cNvSpPr/>
          <p:nvPr/>
        </p:nvSpPr>
        <p:spPr>
          <a:xfrm>
            <a:off x="9483852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066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Mar 26</a:t>
            </a:r>
          </a:p>
        </p:txBody>
      </p:sp>
      <p:sp>
        <p:nvSpPr>
          <p:cNvPr id="45" name="Oval 44"/>
          <p:cNvSpPr/>
          <p:nvPr/>
        </p:nvSpPr>
        <p:spPr>
          <a:xfrm>
            <a:off x="11210544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1735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Apr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8600" y="1645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86616" y="16459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58600" y="2926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86616" y="29260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188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486078"/>
                </a:solidFill>
                <a:latin typeface="Calibri"/>
              </a:rPr>
              <a:t>GCP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001C28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Calibri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EARLY JAN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292608"/>
            <a:ext cx="2011680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"/>
            <a:ext cx="19385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117"/>
                </a:solidFill>
                <a:latin typeface="Calibri"/>
              </a:rPr>
              <a:t> PHASE  05  - 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658368"/>
            <a:ext cx="8494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Proven in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572768"/>
            <a:ext cx="8494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AB0"/>
                </a:solidFill>
                <a:latin typeface="Calibri"/>
              </a:rPr>
              <a:t>GC Resell -- the delivery model tested and validated in a live commercial environment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176272"/>
            <a:ext cx="8494776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3008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3008" y="2304288"/>
            <a:ext cx="2740152" cy="44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Calibri"/>
              </a:rPr>
              <a:t>GC Resell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Live deployment in a real commercial project environment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320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0320" y="2304288"/>
            <a:ext cx="2740152" cy="44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480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Calibri"/>
              </a:rPr>
              <a:t>Model Validated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Repeatable delivery framework proven at commercial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7632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7632" y="2304288"/>
            <a:ext cx="2740152" cy="44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4792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Calibri"/>
              </a:rPr>
              <a:t>Confidence Built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4792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Ready for the next wave of incoming client engagements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279392"/>
            <a:ext cx="8494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Calibri"/>
              </a:rPr>
              <a:t>  From internal to external -- the team is commercially delivery-ready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364224"/>
            <a:ext cx="10360152" cy="25400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" y="6294628"/>
            <a:ext cx="164592" cy="16459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A4335"/>
                </a:solidFill>
                <a:latin typeface="Calibri"/>
              </a:rPr>
              <a:t>Jun 25</a:t>
            </a:r>
          </a:p>
        </p:txBody>
      </p:sp>
      <p:sp>
        <p:nvSpPr>
          <p:cNvPr id="34" name="Oval 33"/>
          <p:cNvSpPr/>
          <p:nvPr/>
        </p:nvSpPr>
        <p:spPr>
          <a:xfrm>
            <a:off x="2558796" y="6294628"/>
            <a:ext cx="164592" cy="16459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8389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285F4"/>
                </a:solidFill>
                <a:latin typeface="Calibri"/>
              </a:rPr>
              <a:t>Jul 25</a:t>
            </a:r>
          </a:p>
        </p:txBody>
      </p:sp>
      <p:sp>
        <p:nvSpPr>
          <p:cNvPr id="36" name="Oval 35"/>
          <p:cNvSpPr/>
          <p:nvPr/>
        </p:nvSpPr>
        <p:spPr>
          <a:xfrm>
            <a:off x="4285488" y="6294628"/>
            <a:ext cx="164592" cy="16459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0584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4A853"/>
                </a:solidFill>
                <a:latin typeface="Calibri"/>
              </a:rPr>
              <a:t>Aug 25</a:t>
            </a:r>
          </a:p>
        </p:txBody>
      </p:sp>
      <p:sp>
        <p:nvSpPr>
          <p:cNvPr id="38" name="Oval 37"/>
          <p:cNvSpPr/>
          <p:nvPr/>
        </p:nvSpPr>
        <p:spPr>
          <a:xfrm>
            <a:off x="6012180" y="6294628"/>
            <a:ext cx="164592" cy="164592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37276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BBC04"/>
                </a:solidFill>
                <a:latin typeface="Calibri"/>
              </a:rPr>
              <a:t>Nov 25</a:t>
            </a:r>
          </a:p>
        </p:txBody>
      </p:sp>
      <p:sp>
        <p:nvSpPr>
          <p:cNvPr id="40" name="Oval 39"/>
          <p:cNvSpPr/>
          <p:nvPr/>
        </p:nvSpPr>
        <p:spPr>
          <a:xfrm>
            <a:off x="7702296" y="6258052"/>
            <a:ext cx="237744" cy="2377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29144" y="6184900"/>
            <a:ext cx="384048" cy="384048"/>
          </a:xfrm>
          <a:prstGeom prst="ellipse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3968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6B6D4"/>
                </a:solidFill>
                <a:latin typeface="Calibri"/>
              </a:rPr>
              <a:t>Jan 26</a:t>
            </a:r>
          </a:p>
        </p:txBody>
      </p:sp>
      <p:sp>
        <p:nvSpPr>
          <p:cNvPr id="43" name="Oval 42"/>
          <p:cNvSpPr/>
          <p:nvPr/>
        </p:nvSpPr>
        <p:spPr>
          <a:xfrm>
            <a:off x="9483852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066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Mar 26</a:t>
            </a:r>
          </a:p>
        </p:txBody>
      </p:sp>
      <p:sp>
        <p:nvSpPr>
          <p:cNvPr id="45" name="Oval 44"/>
          <p:cNvSpPr/>
          <p:nvPr/>
        </p:nvSpPr>
        <p:spPr>
          <a:xfrm>
            <a:off x="11210544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1735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Apr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8600" y="1645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86616" y="16459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58600" y="2926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86616" y="29260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188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486078"/>
                </a:solidFill>
                <a:latin typeface="Calibri"/>
              </a:rPr>
              <a:t>GCP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80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18062C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855F7"/>
                </a:solidFill>
                <a:latin typeface="Calibri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MARCH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292608"/>
            <a:ext cx="2011680" cy="23774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"/>
            <a:ext cx="19385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117"/>
                </a:solidFill>
                <a:latin typeface="Calibri"/>
              </a:rPr>
              <a:t> PHASE  06  - 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658368"/>
            <a:ext cx="8494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Scaling the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572768"/>
            <a:ext cx="8494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AB0"/>
                </a:solidFill>
                <a:latin typeface="Calibri"/>
              </a:rPr>
              <a:t>Incoming client demand drives strategic expansion -- 3 open roles sourcing experienced engineers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176272"/>
            <a:ext cx="8494776" cy="127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3008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3008" y="2304288"/>
            <a:ext cx="2740152" cy="44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Calibri"/>
              </a:rPr>
              <a:t>3 Open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Active sourcing for experienced GCP engineers to join the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320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0320" y="2304288"/>
            <a:ext cx="2740152" cy="44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480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Calibri"/>
              </a:rPr>
              <a:t>Client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Incoming demand pipeline requires additional capacity now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7632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7632" y="2304288"/>
            <a:ext cx="2740152" cy="444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4792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Calibri"/>
              </a:rPr>
              <a:t>Practice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4792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Transitioning from startup unit to established engineering practice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279392"/>
            <a:ext cx="8494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55F7"/>
                </a:solidFill>
                <a:latin typeface="Calibri"/>
              </a:rPr>
              <a:t>  From 2 shared resources to a dedicated, growing engineering team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364224"/>
            <a:ext cx="10360152" cy="25400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" y="6294628"/>
            <a:ext cx="164592" cy="16459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A4335"/>
                </a:solidFill>
                <a:latin typeface="Calibri"/>
              </a:rPr>
              <a:t>Jun 25</a:t>
            </a:r>
          </a:p>
        </p:txBody>
      </p:sp>
      <p:sp>
        <p:nvSpPr>
          <p:cNvPr id="34" name="Oval 33"/>
          <p:cNvSpPr/>
          <p:nvPr/>
        </p:nvSpPr>
        <p:spPr>
          <a:xfrm>
            <a:off x="2558796" y="6294628"/>
            <a:ext cx="164592" cy="16459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8389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285F4"/>
                </a:solidFill>
                <a:latin typeface="Calibri"/>
              </a:rPr>
              <a:t>Jul 25</a:t>
            </a:r>
          </a:p>
        </p:txBody>
      </p:sp>
      <p:sp>
        <p:nvSpPr>
          <p:cNvPr id="36" name="Oval 35"/>
          <p:cNvSpPr/>
          <p:nvPr/>
        </p:nvSpPr>
        <p:spPr>
          <a:xfrm>
            <a:off x="4285488" y="6294628"/>
            <a:ext cx="164592" cy="16459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0584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4A853"/>
                </a:solidFill>
                <a:latin typeface="Calibri"/>
              </a:rPr>
              <a:t>Aug 25</a:t>
            </a:r>
          </a:p>
        </p:txBody>
      </p:sp>
      <p:sp>
        <p:nvSpPr>
          <p:cNvPr id="38" name="Oval 37"/>
          <p:cNvSpPr/>
          <p:nvPr/>
        </p:nvSpPr>
        <p:spPr>
          <a:xfrm>
            <a:off x="6012180" y="6294628"/>
            <a:ext cx="164592" cy="164592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37276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BBC04"/>
                </a:solidFill>
                <a:latin typeface="Calibri"/>
              </a:rPr>
              <a:t>Nov 25</a:t>
            </a:r>
          </a:p>
        </p:txBody>
      </p:sp>
      <p:sp>
        <p:nvSpPr>
          <p:cNvPr id="40" name="Oval 39"/>
          <p:cNvSpPr/>
          <p:nvPr/>
        </p:nvSpPr>
        <p:spPr>
          <a:xfrm>
            <a:off x="7738872" y="6294628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3968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6B6D4"/>
                </a:solidFill>
                <a:latin typeface="Calibri"/>
              </a:rPr>
              <a:t>Jan 26</a:t>
            </a:r>
          </a:p>
        </p:txBody>
      </p:sp>
      <p:sp>
        <p:nvSpPr>
          <p:cNvPr id="42" name="Oval 41"/>
          <p:cNvSpPr/>
          <p:nvPr/>
        </p:nvSpPr>
        <p:spPr>
          <a:xfrm>
            <a:off x="9428988" y="6258052"/>
            <a:ext cx="237744" cy="23774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55836" y="6184900"/>
            <a:ext cx="384048" cy="384048"/>
          </a:xfrm>
          <a:prstGeom prst="ellipse">
            <a:avLst/>
          </a:prstGeom>
          <a:noFill/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066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855F7"/>
                </a:solidFill>
                <a:latin typeface="Calibri"/>
              </a:rPr>
              <a:t>Mar 26</a:t>
            </a:r>
          </a:p>
        </p:txBody>
      </p:sp>
      <p:sp>
        <p:nvSpPr>
          <p:cNvPr id="45" name="Oval 44"/>
          <p:cNvSpPr/>
          <p:nvPr/>
        </p:nvSpPr>
        <p:spPr>
          <a:xfrm>
            <a:off x="11210544" y="6312916"/>
            <a:ext cx="128016" cy="128016"/>
          </a:xfrm>
          <a:prstGeom prst="ellipse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1735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86078"/>
                </a:solidFill>
                <a:latin typeface="Calibri"/>
              </a:rPr>
              <a:t>Apr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8600" y="1645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86616" y="16459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58600" y="2926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86616" y="29260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188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486078"/>
                </a:solidFill>
                <a:latin typeface="Calibri"/>
              </a:rPr>
              <a:t>GCP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01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001E1C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Calibri"/>
              </a:rPr>
              <a:t>NEW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APR / MAY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292608"/>
            <a:ext cx="2011680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"/>
            <a:ext cx="19385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117"/>
                </a:solidFill>
                <a:latin typeface="Calibri"/>
              </a:rPr>
              <a:t> PHASE  07  -  NEW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658368"/>
            <a:ext cx="84947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YNCR Joins the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1572768"/>
            <a:ext cx="8494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AB0"/>
                </a:solidFill>
                <a:latin typeface="Calibri"/>
              </a:rPr>
              <a:t>A new client bringing their existing GCP Org to CMS GCP Engineering for expert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176272"/>
            <a:ext cx="8494776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3008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3008" y="2304288"/>
            <a:ext cx="2740152" cy="44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Calibri"/>
              </a:rPr>
              <a:t>YNCR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New client -- supporting their existing GCP Org environment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320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0320" y="2304288"/>
            <a:ext cx="2740152" cy="44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480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Calibri"/>
              </a:rPr>
              <a:t>Org Extension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480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Extending their current GCP environment setup and capability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7632" y="2304288"/>
            <a:ext cx="2740152" cy="182880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7632" y="2304288"/>
            <a:ext cx="2740152" cy="44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4792" y="2414016"/>
            <a:ext cx="255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Calibri"/>
              </a:rPr>
              <a:t>Platform Partner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4792" y="2761488"/>
            <a:ext cx="25389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AB0"/>
                </a:solidFill>
                <a:latin typeface="Calibri"/>
              </a:rPr>
              <a:t>CMS GCP Engineering positioned as their trusted cloud partner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279392"/>
            <a:ext cx="8494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Calibri"/>
              </a:rPr>
              <a:t>  CURRENT ENGAGEMENT -- Growing reputation is opening new doors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364224"/>
            <a:ext cx="10360152" cy="25400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" y="6294628"/>
            <a:ext cx="164592" cy="16459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A4335"/>
                </a:solidFill>
                <a:latin typeface="Calibri"/>
              </a:rPr>
              <a:t>Jun 25</a:t>
            </a:r>
          </a:p>
        </p:txBody>
      </p:sp>
      <p:sp>
        <p:nvSpPr>
          <p:cNvPr id="34" name="Oval 33"/>
          <p:cNvSpPr/>
          <p:nvPr/>
        </p:nvSpPr>
        <p:spPr>
          <a:xfrm>
            <a:off x="2558796" y="6294628"/>
            <a:ext cx="164592" cy="16459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8389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285F4"/>
                </a:solidFill>
                <a:latin typeface="Calibri"/>
              </a:rPr>
              <a:t>Jul 25</a:t>
            </a:r>
          </a:p>
        </p:txBody>
      </p:sp>
      <p:sp>
        <p:nvSpPr>
          <p:cNvPr id="36" name="Oval 35"/>
          <p:cNvSpPr/>
          <p:nvPr/>
        </p:nvSpPr>
        <p:spPr>
          <a:xfrm>
            <a:off x="4285488" y="6294628"/>
            <a:ext cx="164592" cy="16459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0584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4A853"/>
                </a:solidFill>
                <a:latin typeface="Calibri"/>
              </a:rPr>
              <a:t>Aug 25</a:t>
            </a:r>
          </a:p>
        </p:txBody>
      </p:sp>
      <p:sp>
        <p:nvSpPr>
          <p:cNvPr id="38" name="Oval 37"/>
          <p:cNvSpPr/>
          <p:nvPr/>
        </p:nvSpPr>
        <p:spPr>
          <a:xfrm>
            <a:off x="6012180" y="6294628"/>
            <a:ext cx="164592" cy="164592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37276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BBC04"/>
                </a:solidFill>
                <a:latin typeface="Calibri"/>
              </a:rPr>
              <a:t>Nov 25</a:t>
            </a:r>
          </a:p>
        </p:txBody>
      </p:sp>
      <p:sp>
        <p:nvSpPr>
          <p:cNvPr id="40" name="Oval 39"/>
          <p:cNvSpPr/>
          <p:nvPr/>
        </p:nvSpPr>
        <p:spPr>
          <a:xfrm>
            <a:off x="7738872" y="6294628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3968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6B6D4"/>
                </a:solidFill>
                <a:latin typeface="Calibri"/>
              </a:rPr>
              <a:t>Jan 26</a:t>
            </a:r>
          </a:p>
        </p:txBody>
      </p:sp>
      <p:sp>
        <p:nvSpPr>
          <p:cNvPr id="42" name="Oval 41"/>
          <p:cNvSpPr/>
          <p:nvPr/>
        </p:nvSpPr>
        <p:spPr>
          <a:xfrm>
            <a:off x="9465564" y="6294628"/>
            <a:ext cx="164592" cy="164592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0660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A855F7"/>
                </a:solidFill>
                <a:latin typeface="Calibri"/>
              </a:rPr>
              <a:t>Mar 26</a:t>
            </a:r>
          </a:p>
        </p:txBody>
      </p:sp>
      <p:sp>
        <p:nvSpPr>
          <p:cNvPr id="44" name="Oval 43"/>
          <p:cNvSpPr/>
          <p:nvPr/>
        </p:nvSpPr>
        <p:spPr>
          <a:xfrm>
            <a:off x="11155680" y="6258052"/>
            <a:ext cx="237744" cy="2377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82528" y="6184900"/>
            <a:ext cx="384048" cy="384048"/>
          </a:xfrm>
          <a:prstGeom prst="ellipse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17352" y="65288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6B6D4"/>
                </a:solidFill>
                <a:latin typeface="Calibri"/>
              </a:rPr>
              <a:t>Apr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8600" y="164592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86616" y="164592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58600" y="29260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86616" y="29260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1188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486078"/>
                </a:solidFill>
                <a:latin typeface="Calibri"/>
              </a:rPr>
              <a:t>GCP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The Journey So Far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8B9AB0"/>
                </a:solidFill>
                <a:latin typeface="Calibri"/>
              </a:rPr>
              <a:t>11 months  -  4+ clients  -  A growing team  -  The story continues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725912" cy="31750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1911858"/>
            <a:ext cx="237744" cy="237744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1847850"/>
            <a:ext cx="365760" cy="365760"/>
          </a:xfrm>
          <a:prstGeom prst="ellipse">
            <a:avLst/>
          </a:prstGeom>
          <a:noFill/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630" y="1527048"/>
            <a:ext cx="17780" cy="420624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2344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A4335"/>
                </a:solidFill>
                <a:latin typeface="Calibri"/>
              </a:rPr>
              <a:t>Jun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14356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AB0"/>
                </a:solidFill>
                <a:latin typeface="Calibri"/>
              </a:rPr>
              <a:t>TRANSITION</a:t>
            </a:r>
          </a:p>
        </p:txBody>
      </p:sp>
      <p:sp>
        <p:nvSpPr>
          <p:cNvPr id="16" name="Oval 15"/>
          <p:cNvSpPr/>
          <p:nvPr/>
        </p:nvSpPr>
        <p:spPr>
          <a:xfrm>
            <a:off x="2400300" y="1911858"/>
            <a:ext cx="237744" cy="23774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36292" y="1847850"/>
            <a:ext cx="365760" cy="365760"/>
          </a:xfrm>
          <a:prstGeom prst="ellipse">
            <a:avLst/>
          </a:prstGeom>
          <a:noFill/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0282" y="2194560"/>
            <a:ext cx="17780" cy="146304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6252" y="2359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4285F4"/>
                </a:solidFill>
                <a:latin typeface="Calibri"/>
              </a:rPr>
              <a:t>Jul 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6252" y="25603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AB0"/>
                </a:solidFill>
                <a:latin typeface="Calibri"/>
              </a:rPr>
              <a:t>FOUNDATION</a:t>
            </a:r>
          </a:p>
        </p:txBody>
      </p:sp>
      <p:sp>
        <p:nvSpPr>
          <p:cNvPr id="21" name="Oval 20"/>
          <p:cNvSpPr/>
          <p:nvPr/>
        </p:nvSpPr>
        <p:spPr>
          <a:xfrm>
            <a:off x="4187952" y="1911858"/>
            <a:ext cx="237744" cy="237744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23944" y="1847850"/>
            <a:ext cx="365760" cy="365760"/>
          </a:xfrm>
          <a:prstGeom prst="ellipse">
            <a:avLst/>
          </a:prstGeom>
          <a:noFill/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934" y="1527048"/>
            <a:ext cx="17780" cy="420624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3904" y="12344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4A853"/>
                </a:solidFill>
                <a:latin typeface="Calibri"/>
              </a:rPr>
              <a:t>Aug 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14356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AB0"/>
                </a:solidFill>
                <a:latin typeface="Calibri"/>
              </a:rPr>
              <a:t>BUILD</a:t>
            </a:r>
          </a:p>
        </p:txBody>
      </p:sp>
      <p:sp>
        <p:nvSpPr>
          <p:cNvPr id="26" name="Oval 25"/>
          <p:cNvSpPr/>
          <p:nvPr/>
        </p:nvSpPr>
        <p:spPr>
          <a:xfrm>
            <a:off x="5975604" y="1911858"/>
            <a:ext cx="237744" cy="237744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11596" y="1847850"/>
            <a:ext cx="365760" cy="365760"/>
          </a:xfrm>
          <a:prstGeom prst="ellipse">
            <a:avLst/>
          </a:prstGeom>
          <a:noFill/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5586" y="2194560"/>
            <a:ext cx="17780" cy="146304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1556" y="2359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BBC04"/>
                </a:solidFill>
                <a:latin typeface="Calibri"/>
              </a:rPr>
              <a:t>Nov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1556" y="25603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AB0"/>
                </a:solidFill>
                <a:latin typeface="Calibri"/>
              </a:rPr>
              <a:t>FIRST WIN</a:t>
            </a:r>
          </a:p>
        </p:txBody>
      </p:sp>
      <p:sp>
        <p:nvSpPr>
          <p:cNvPr id="31" name="Oval 30"/>
          <p:cNvSpPr/>
          <p:nvPr/>
        </p:nvSpPr>
        <p:spPr>
          <a:xfrm>
            <a:off x="7763256" y="1911858"/>
            <a:ext cx="237744" cy="2377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99248" y="1847850"/>
            <a:ext cx="365760" cy="36576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73238" y="1527048"/>
            <a:ext cx="17780" cy="420624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9208" y="12344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6B6D4"/>
                </a:solidFill>
                <a:latin typeface="Calibri"/>
              </a:rPr>
              <a:t>Jan 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14356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AB0"/>
                </a:solidFill>
                <a:latin typeface="Calibri"/>
              </a:rPr>
              <a:t>VALIDATION</a:t>
            </a:r>
          </a:p>
        </p:txBody>
      </p:sp>
      <p:sp>
        <p:nvSpPr>
          <p:cNvPr id="36" name="Oval 35"/>
          <p:cNvSpPr/>
          <p:nvPr/>
        </p:nvSpPr>
        <p:spPr>
          <a:xfrm>
            <a:off x="9550908" y="1911858"/>
            <a:ext cx="237744" cy="23774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86900" y="1847850"/>
            <a:ext cx="365760" cy="365760"/>
          </a:xfrm>
          <a:prstGeom prst="ellipse">
            <a:avLst/>
          </a:prstGeom>
          <a:noFill/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60890" y="2194560"/>
            <a:ext cx="17780" cy="146304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6860" y="2359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A855F7"/>
                </a:solidFill>
                <a:latin typeface="Calibri"/>
              </a:rPr>
              <a:t>Mar 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6860" y="25603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AB0"/>
                </a:solidFill>
                <a:latin typeface="Calibri"/>
              </a:rPr>
              <a:t>GROWTH</a:t>
            </a:r>
          </a:p>
        </p:txBody>
      </p:sp>
      <p:sp>
        <p:nvSpPr>
          <p:cNvPr id="41" name="Oval 40"/>
          <p:cNvSpPr/>
          <p:nvPr/>
        </p:nvSpPr>
        <p:spPr>
          <a:xfrm>
            <a:off x="11338560" y="1911858"/>
            <a:ext cx="237744" cy="2377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74552" y="1847850"/>
            <a:ext cx="365760" cy="365760"/>
          </a:xfrm>
          <a:prstGeom prst="ellipse">
            <a:avLst/>
          </a:prstGeom>
          <a:noFill/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48542" y="1527048"/>
            <a:ext cx="17780" cy="420624"/>
          </a:xfrm>
          <a:prstGeom prst="rect">
            <a:avLst/>
          </a:prstGeom>
          <a:solidFill>
            <a:srgbClr val="48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54512" y="12344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6B6D4"/>
                </a:solidFill>
                <a:latin typeface="Calibri"/>
              </a:rPr>
              <a:t>Apr 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54512" y="14356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9AB0"/>
                </a:solidFill>
                <a:latin typeface="Calibri"/>
              </a:rPr>
              <a:t>NEW CLIENT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3017520"/>
            <a:ext cx="2651760" cy="14630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" y="3017520"/>
            <a:ext cx="265176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090672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285F4"/>
                </a:solidFill>
                <a:latin typeface="Calibri"/>
              </a:rPr>
              <a:t>11+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3822191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Months of delivery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38728" y="3017520"/>
            <a:ext cx="2651760" cy="14630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38728" y="3017520"/>
            <a:ext cx="265176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38728" y="3090672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285F4"/>
                </a:solidFill>
                <a:latin typeface="Calibri"/>
              </a:rPr>
              <a:t>4+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38728" y="3822191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Clients served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91656" y="3017520"/>
            <a:ext cx="2651760" cy="14630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91656" y="3017520"/>
            <a:ext cx="265176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91656" y="3090672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285F4"/>
                </a:solidFill>
                <a:latin typeface="Calibr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91656" y="3822191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Open roles (growing)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44584" y="3017520"/>
            <a:ext cx="2651760" cy="1463040"/>
          </a:xfrm>
          <a:prstGeom prst="rect">
            <a:avLst/>
          </a:prstGeom>
          <a:solidFill>
            <a:srgbClr val="1A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44584" y="3017520"/>
            <a:ext cx="265176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44584" y="3090672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285F4"/>
                </a:solidFill>
                <a:latin typeface="Calibri"/>
              </a:rPr>
              <a:t>1st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44584" y="3822191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AB0"/>
                </a:solidFill>
                <a:latin typeface="Calibri"/>
              </a:rPr>
              <a:t>Multi-cloud build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475488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"The best chapters are still being written."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28800" y="5321808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AB0"/>
                </a:solidFill>
                <a:latin typeface="Calibri"/>
              </a:rPr>
              <a:t>From a 2-person shared resource to a growing, revenue-generating GCP Engineering practice.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3093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86078"/>
                </a:solidFill>
                <a:latin typeface="Calibri"/>
              </a:rPr>
              <a:t>CMS GCP Engineering  -  Building the Future, One Project at a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